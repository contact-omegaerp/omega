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y="10287000" cx="18288000"/>
  <p:notesSz cx="6858000" cy="9144000"/>
  <p:embeddedFontLst>
    <p:embeddedFont>
      <p:font typeface="Libre Franklin"/>
      <p:bold r:id="rId25"/>
      <p:boldItalic r:id="rId26"/>
    </p:embeddedFont>
    <p:embeddedFont>
      <p:font typeface="Arimo"/>
      <p:bold r:id="rId27"/>
      <p:boldItalic r:id="rId2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29" roundtripDataSignature="AMtx7miy0hxbUMhMtVTDmkHdUKwHV1R8N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DEFBD729-81F5-4A08-8893-94AAE556583F}">
  <a:tblStyle styleId="{DEFBD729-81F5-4A08-8893-94AAE556583F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LibreFranklin-boldItalic.fntdata"/><Relationship Id="rId25" Type="http://schemas.openxmlformats.org/officeDocument/2006/relationships/font" Target="fonts/LibreFranklin-bold.fntdata"/><Relationship Id="rId28" Type="http://schemas.openxmlformats.org/officeDocument/2006/relationships/font" Target="fonts/Arimo-boldItalic.fntdata"/><Relationship Id="rId27" Type="http://schemas.openxmlformats.org/officeDocument/2006/relationships/font" Target="fonts/Arimo-bold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customschemas.google.com/relationships/presentationmetadata" Target="meta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" name="Google Shape;291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" name="Google Shape;301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8" name="Google Shape;318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8" name="Google Shape;338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1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1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22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3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23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2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2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4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24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2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5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25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25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25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2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7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7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7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2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8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8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8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2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9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0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30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3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3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3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9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png"/><Relationship Id="rId4" Type="http://schemas.openxmlformats.org/officeDocument/2006/relationships/image" Target="../media/image8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1.jpg"/><Relationship Id="rId4" Type="http://schemas.openxmlformats.org/officeDocument/2006/relationships/image" Target="../media/image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0.png"/><Relationship Id="rId4" Type="http://schemas.openxmlformats.org/officeDocument/2006/relationships/image" Target="../media/image9.png"/><Relationship Id="rId5" Type="http://schemas.openxmlformats.org/officeDocument/2006/relationships/image" Target="../media/image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Relationship Id="rId4" Type="http://schemas.openxmlformats.org/officeDocument/2006/relationships/image" Target="../media/image1.png"/><Relationship Id="rId5" Type="http://schemas.openxmlformats.org/officeDocument/2006/relationships/image" Target="../media/image17.jpg"/><Relationship Id="rId6" Type="http://schemas.openxmlformats.org/officeDocument/2006/relationships/image" Target="../media/image12.jpg"/><Relationship Id="rId7" Type="http://schemas.openxmlformats.org/officeDocument/2006/relationships/image" Target="../media/image7.jpg"/><Relationship Id="rId8" Type="http://schemas.openxmlformats.org/officeDocument/2006/relationships/image" Target="../media/image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4.png"/><Relationship Id="rId4" Type="http://schemas.openxmlformats.org/officeDocument/2006/relationships/image" Target="../media/image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6.png"/><Relationship Id="rId4" Type="http://schemas.openxmlformats.org/officeDocument/2006/relationships/image" Target="../media/image3.png"/><Relationship Id="rId5" Type="http://schemas.openxmlformats.org/officeDocument/2006/relationships/image" Target="../media/image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0.png"/><Relationship Id="rId4" Type="http://schemas.openxmlformats.org/officeDocument/2006/relationships/image" Target="../media/image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3.png"/><Relationship Id="rId4" Type="http://schemas.openxmlformats.org/officeDocument/2006/relationships/image" Target="../media/image19.jpg"/><Relationship Id="rId5" Type="http://schemas.openxmlformats.org/officeDocument/2006/relationships/image" Target="../media/image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6.png"/><Relationship Id="rId4" Type="http://schemas.openxmlformats.org/officeDocument/2006/relationships/image" Target="../media/image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4.png"/><Relationship Id="rId4" Type="http://schemas.openxmlformats.org/officeDocument/2006/relationships/image" Target="../media/image6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2.png"/><Relationship Id="rId4" Type="http://schemas.openxmlformats.org/officeDocument/2006/relationships/image" Target="../media/image21.png"/><Relationship Id="rId5" Type="http://schemas.openxmlformats.org/officeDocument/2006/relationships/image" Target="../media/image6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8.png"/><Relationship Id="rId4" Type="http://schemas.openxmlformats.org/officeDocument/2006/relationships/image" Target="../media/image15.png"/><Relationship Id="rId5" Type="http://schemas.openxmlformats.org/officeDocument/2006/relationships/image" Target="../media/image6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8.png"/><Relationship Id="rId4" Type="http://schemas.openxmlformats.org/officeDocument/2006/relationships/image" Target="../media/image24.jpg"/><Relationship Id="rId5" Type="http://schemas.openxmlformats.org/officeDocument/2006/relationships/image" Target="../media/image6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6.png"/><Relationship Id="rId4" Type="http://schemas.openxmlformats.org/officeDocument/2006/relationships/image" Target="../media/image25.jp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5.png"/><Relationship Id="rId4" Type="http://schemas.openxmlformats.org/officeDocument/2006/relationships/image" Target="../media/image27.jpg"/><Relationship Id="rId5" Type="http://schemas.openxmlformats.org/officeDocument/2006/relationships/image" Target="../media/image6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41.jpg"/><Relationship Id="rId4" Type="http://schemas.openxmlformats.org/officeDocument/2006/relationships/image" Target="../media/image28.png"/><Relationship Id="rId5" Type="http://schemas.openxmlformats.org/officeDocument/2006/relationships/image" Target="../media/image31.png"/><Relationship Id="rId6" Type="http://schemas.openxmlformats.org/officeDocument/2006/relationships/image" Target="../media/image36.jp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3.png"/><Relationship Id="rId4" Type="http://schemas.openxmlformats.org/officeDocument/2006/relationships/image" Target="../media/image42.png"/><Relationship Id="rId11" Type="http://schemas.openxmlformats.org/officeDocument/2006/relationships/image" Target="../media/image5.png"/><Relationship Id="rId10" Type="http://schemas.openxmlformats.org/officeDocument/2006/relationships/image" Target="../media/image35.png"/><Relationship Id="rId9" Type="http://schemas.openxmlformats.org/officeDocument/2006/relationships/image" Target="../media/image39.png"/><Relationship Id="rId5" Type="http://schemas.openxmlformats.org/officeDocument/2006/relationships/image" Target="../media/image32.png"/><Relationship Id="rId6" Type="http://schemas.openxmlformats.org/officeDocument/2006/relationships/image" Target="../media/image37.jpg"/><Relationship Id="rId7" Type="http://schemas.openxmlformats.org/officeDocument/2006/relationships/image" Target="../media/image30.png"/><Relationship Id="rId8" Type="http://schemas.openxmlformats.org/officeDocument/2006/relationships/image" Target="../media/image40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>
            <a:off x="14406770" y="4201140"/>
            <a:ext cx="7027514" cy="6085860"/>
          </a:xfrm>
          <a:custGeom>
            <a:rect b="b" l="l" r="r" t="t"/>
            <a:pathLst>
              <a:path extrusionOk="0" h="3134614" w="3619627">
                <a:moveTo>
                  <a:pt x="3619627" y="1567307"/>
                </a:moveTo>
                <a:lnTo>
                  <a:pt x="2714752" y="3134614"/>
                </a:lnTo>
                <a:lnTo>
                  <a:pt x="904875" y="3134614"/>
                </a:lnTo>
                <a:lnTo>
                  <a:pt x="0" y="1567307"/>
                </a:lnTo>
                <a:lnTo>
                  <a:pt x="904875" y="0"/>
                </a:lnTo>
                <a:lnTo>
                  <a:pt x="2714625" y="0"/>
                </a:lnTo>
                <a:lnTo>
                  <a:pt x="3619627" y="1567307"/>
                </a:lnTo>
                <a:close/>
              </a:path>
            </a:pathLst>
          </a:custGeom>
          <a:solidFill>
            <a:srgbClr val="004651"/>
          </a:solidFill>
          <a:ln>
            <a:noFill/>
          </a:ln>
        </p:spPr>
      </p:sp>
      <p:sp>
        <p:nvSpPr>
          <p:cNvPr id="85" name="Google Shape;85;p1"/>
          <p:cNvSpPr/>
          <p:nvPr/>
        </p:nvSpPr>
        <p:spPr>
          <a:xfrm>
            <a:off x="11289994" y="230155"/>
            <a:ext cx="4145864" cy="3379231"/>
          </a:xfrm>
          <a:custGeom>
            <a:rect b="b" l="l" r="r" t="t"/>
            <a:pathLst>
              <a:path extrusionOk="0" h="3134614" w="3845752">
                <a:moveTo>
                  <a:pt x="3845752" y="1567307"/>
                </a:moveTo>
                <a:lnTo>
                  <a:pt x="2940877" y="3134614"/>
                </a:lnTo>
                <a:lnTo>
                  <a:pt x="904875" y="3134614"/>
                </a:lnTo>
                <a:lnTo>
                  <a:pt x="0" y="1567307"/>
                </a:lnTo>
                <a:lnTo>
                  <a:pt x="904875" y="0"/>
                </a:lnTo>
                <a:lnTo>
                  <a:pt x="2940750" y="0"/>
                </a:lnTo>
                <a:lnTo>
                  <a:pt x="3845752" y="1567307"/>
                </a:lnTo>
                <a:close/>
              </a:path>
            </a:pathLst>
          </a:custGeom>
          <a:solidFill>
            <a:srgbClr val="00A181"/>
          </a:solidFill>
          <a:ln>
            <a:noFill/>
          </a:ln>
        </p:spPr>
      </p:sp>
      <p:sp>
        <p:nvSpPr>
          <p:cNvPr id="86" name="Google Shape;86;p1"/>
          <p:cNvSpPr/>
          <p:nvPr/>
        </p:nvSpPr>
        <p:spPr>
          <a:xfrm>
            <a:off x="11289994" y="1628709"/>
            <a:ext cx="6484589" cy="5615361"/>
          </a:xfrm>
          <a:custGeom>
            <a:rect b="b" l="l" r="r" t="t"/>
            <a:pathLst>
              <a:path extrusionOk="0" h="3708400" w="4282440">
                <a:moveTo>
                  <a:pt x="3211830" y="0"/>
                </a:moveTo>
                <a:lnTo>
                  <a:pt x="1070610" y="0"/>
                </a:lnTo>
                <a:lnTo>
                  <a:pt x="0" y="1854200"/>
                </a:lnTo>
                <a:lnTo>
                  <a:pt x="1070610" y="3708400"/>
                </a:lnTo>
                <a:lnTo>
                  <a:pt x="3211830" y="3708400"/>
                </a:lnTo>
                <a:lnTo>
                  <a:pt x="4282440" y="185420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3112" l="0" r="-3622" t="-3112"/>
            </a:stretch>
          </a:blipFill>
          <a:ln cap="sq" cmpd="sng" w="95250">
            <a:solidFill>
              <a:srgbClr val="00A650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87" name="Google Shape;87;p1"/>
          <p:cNvSpPr txBox="1"/>
          <p:nvPr/>
        </p:nvSpPr>
        <p:spPr>
          <a:xfrm>
            <a:off x="367473" y="4436389"/>
            <a:ext cx="11121691" cy="30008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500" u="none" cap="none" strike="noStrike">
                <a:solidFill>
                  <a:srgbClr val="00A650"/>
                </a:solidFill>
                <a:latin typeface="Arial"/>
                <a:ea typeface="Arial"/>
                <a:cs typeface="Arial"/>
                <a:sym typeface="Arial"/>
              </a:rPr>
              <a:t>PHẦN MỀM</a:t>
            </a:r>
            <a:endParaRPr/>
          </a:p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500" u="none" cap="none" strike="noStrike">
                <a:solidFill>
                  <a:srgbClr val="00A650"/>
                </a:solidFill>
                <a:latin typeface="Arial"/>
                <a:ea typeface="Arial"/>
                <a:cs typeface="Arial"/>
                <a:sym typeface="Arial"/>
              </a:rPr>
              <a:t> QUẢN LÝ CHO THUÊ</a:t>
            </a:r>
            <a:endParaRPr/>
          </a:p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500" u="none" cap="none" strike="noStrike">
                <a:solidFill>
                  <a:srgbClr val="00A650"/>
                </a:solidFill>
                <a:latin typeface="Arial"/>
                <a:ea typeface="Arial"/>
                <a:cs typeface="Arial"/>
                <a:sym typeface="Arial"/>
              </a:rPr>
              <a:t>OMEGA.RS</a:t>
            </a:r>
            <a:endParaRPr/>
          </a:p>
        </p:txBody>
      </p:sp>
      <p:sp>
        <p:nvSpPr>
          <p:cNvPr id="88" name="Google Shape;88;p1"/>
          <p:cNvSpPr txBox="1"/>
          <p:nvPr/>
        </p:nvSpPr>
        <p:spPr>
          <a:xfrm>
            <a:off x="-67942" y="3012486"/>
            <a:ext cx="11992521" cy="59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Công ty TNHH Công nghệ và Giải pháp Omega</a:t>
            </a:r>
            <a:endParaRPr/>
          </a:p>
        </p:txBody>
      </p:sp>
      <p:sp>
        <p:nvSpPr>
          <p:cNvPr id="89" name="Google Shape;89;p1"/>
          <p:cNvSpPr/>
          <p:nvPr/>
        </p:nvSpPr>
        <p:spPr>
          <a:xfrm rot="10800000">
            <a:off x="1028700" y="9258300"/>
            <a:ext cx="3480308" cy="3013963"/>
          </a:xfrm>
          <a:custGeom>
            <a:rect b="b" l="l" r="r" t="t"/>
            <a:pathLst>
              <a:path extrusionOk="0" h="3134614" w="3619627">
                <a:moveTo>
                  <a:pt x="3619627" y="1567307"/>
                </a:moveTo>
                <a:lnTo>
                  <a:pt x="2714752" y="3134614"/>
                </a:lnTo>
                <a:lnTo>
                  <a:pt x="904875" y="3134614"/>
                </a:lnTo>
                <a:lnTo>
                  <a:pt x="0" y="1567307"/>
                </a:lnTo>
                <a:lnTo>
                  <a:pt x="904875" y="0"/>
                </a:lnTo>
                <a:lnTo>
                  <a:pt x="2714625" y="0"/>
                </a:lnTo>
                <a:lnTo>
                  <a:pt x="3619627" y="1567307"/>
                </a:lnTo>
                <a:close/>
              </a:path>
            </a:pathLst>
          </a:custGeom>
          <a:solidFill>
            <a:srgbClr val="A4E473"/>
          </a:solidFill>
          <a:ln>
            <a:noFill/>
          </a:ln>
        </p:spPr>
      </p:sp>
      <p:sp>
        <p:nvSpPr>
          <p:cNvPr id="90" name="Google Shape;90;p1"/>
          <p:cNvSpPr/>
          <p:nvPr/>
        </p:nvSpPr>
        <p:spPr>
          <a:xfrm>
            <a:off x="-1264556" y="-1503722"/>
            <a:ext cx="9672849" cy="2532422"/>
          </a:xfrm>
          <a:custGeom>
            <a:rect b="b" l="l" r="r" t="t"/>
            <a:pathLst>
              <a:path extrusionOk="0" h="2349104" w="8972647">
                <a:moveTo>
                  <a:pt x="8972647" y="1174552"/>
                </a:moveTo>
                <a:lnTo>
                  <a:pt x="8067772" y="2349104"/>
                </a:lnTo>
                <a:lnTo>
                  <a:pt x="904875" y="2349104"/>
                </a:lnTo>
                <a:lnTo>
                  <a:pt x="0" y="1174552"/>
                </a:lnTo>
                <a:lnTo>
                  <a:pt x="904875" y="0"/>
                </a:lnTo>
                <a:lnTo>
                  <a:pt x="8067645" y="0"/>
                </a:lnTo>
                <a:lnTo>
                  <a:pt x="8972647" y="1174552"/>
                </a:lnTo>
                <a:close/>
              </a:path>
            </a:pathLst>
          </a:custGeom>
          <a:solidFill>
            <a:srgbClr val="00A650"/>
          </a:solidFill>
          <a:ln>
            <a:noFill/>
          </a:ln>
        </p:spPr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EFFFE"/>
        </a:solidFill>
      </p:bgPr>
    </p:bg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"/>
          <p:cNvSpPr/>
          <p:nvPr/>
        </p:nvSpPr>
        <p:spPr>
          <a:xfrm rot="10800000">
            <a:off x="3061137" y="7468788"/>
            <a:ext cx="3480308" cy="3013963"/>
          </a:xfrm>
          <a:custGeom>
            <a:rect b="b" l="l" r="r" t="t"/>
            <a:pathLst>
              <a:path extrusionOk="0" h="3134614" w="3619627">
                <a:moveTo>
                  <a:pt x="3619627" y="1567307"/>
                </a:moveTo>
                <a:lnTo>
                  <a:pt x="2714752" y="3134614"/>
                </a:lnTo>
                <a:lnTo>
                  <a:pt x="904875" y="3134614"/>
                </a:lnTo>
                <a:lnTo>
                  <a:pt x="0" y="1567307"/>
                </a:lnTo>
                <a:lnTo>
                  <a:pt x="904875" y="0"/>
                </a:lnTo>
                <a:lnTo>
                  <a:pt x="2714625" y="0"/>
                </a:lnTo>
                <a:lnTo>
                  <a:pt x="3619627" y="1567307"/>
                </a:lnTo>
                <a:close/>
              </a:path>
            </a:pathLst>
          </a:custGeom>
          <a:solidFill>
            <a:srgbClr val="A4E473"/>
          </a:solidFill>
          <a:ln>
            <a:noFill/>
          </a:ln>
        </p:spPr>
      </p:sp>
      <p:sp>
        <p:nvSpPr>
          <p:cNvPr id="96" name="Google Shape;96;p2"/>
          <p:cNvSpPr/>
          <p:nvPr/>
        </p:nvSpPr>
        <p:spPr>
          <a:xfrm rot="10800000">
            <a:off x="6187052" y="6865669"/>
            <a:ext cx="1798578" cy="1557577"/>
          </a:xfrm>
          <a:custGeom>
            <a:rect b="b" l="l" r="r" t="t"/>
            <a:pathLst>
              <a:path extrusionOk="0" h="3134614" w="3619627">
                <a:moveTo>
                  <a:pt x="3619627" y="1567307"/>
                </a:moveTo>
                <a:lnTo>
                  <a:pt x="2714752" y="3134614"/>
                </a:lnTo>
                <a:lnTo>
                  <a:pt x="904875" y="3134614"/>
                </a:lnTo>
                <a:lnTo>
                  <a:pt x="0" y="1567307"/>
                </a:lnTo>
                <a:lnTo>
                  <a:pt x="904875" y="0"/>
                </a:lnTo>
                <a:lnTo>
                  <a:pt x="2714625" y="0"/>
                </a:lnTo>
                <a:lnTo>
                  <a:pt x="3619627" y="1567307"/>
                </a:lnTo>
                <a:close/>
              </a:path>
            </a:pathLst>
          </a:custGeom>
          <a:solidFill>
            <a:srgbClr val="00A181"/>
          </a:solidFill>
          <a:ln>
            <a:noFill/>
          </a:ln>
        </p:spPr>
      </p:sp>
      <p:cxnSp>
        <p:nvCxnSpPr>
          <p:cNvPr id="97" name="Google Shape;97;p2"/>
          <p:cNvCxnSpPr/>
          <p:nvPr/>
        </p:nvCxnSpPr>
        <p:spPr>
          <a:xfrm>
            <a:off x="8986898" y="2973519"/>
            <a:ext cx="8272402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8" name="Google Shape;98;p2"/>
          <p:cNvCxnSpPr/>
          <p:nvPr/>
        </p:nvCxnSpPr>
        <p:spPr>
          <a:xfrm>
            <a:off x="8986898" y="5148262"/>
            <a:ext cx="8272402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9" name="Google Shape;99;p2"/>
          <p:cNvSpPr/>
          <p:nvPr/>
        </p:nvSpPr>
        <p:spPr>
          <a:xfrm>
            <a:off x="17477112" y="-104775"/>
            <a:ext cx="810888" cy="810888"/>
          </a:xfrm>
          <a:custGeom>
            <a:rect b="b" l="l" r="r" t="t"/>
            <a:pathLst>
              <a:path extrusionOk="0" h="810888" w="810888">
                <a:moveTo>
                  <a:pt x="0" y="0"/>
                </a:moveTo>
                <a:lnTo>
                  <a:pt x="810888" y="0"/>
                </a:lnTo>
                <a:lnTo>
                  <a:pt x="810888" y="810888"/>
                </a:lnTo>
                <a:lnTo>
                  <a:pt x="0" y="81088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0" name="Google Shape;100;p2"/>
          <p:cNvSpPr txBox="1"/>
          <p:nvPr/>
        </p:nvSpPr>
        <p:spPr>
          <a:xfrm>
            <a:off x="1028700" y="1038225"/>
            <a:ext cx="5512745" cy="1276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499" u="none" cap="none" strike="noStrike">
                <a:solidFill>
                  <a:srgbClr val="00A650"/>
                </a:solidFill>
                <a:latin typeface="Arial"/>
                <a:ea typeface="Arial"/>
                <a:cs typeface="Arial"/>
                <a:sym typeface="Arial"/>
              </a:rPr>
              <a:t>Tổng quan</a:t>
            </a:r>
            <a:endParaRPr/>
          </a:p>
        </p:txBody>
      </p:sp>
      <p:grpSp>
        <p:nvGrpSpPr>
          <p:cNvPr id="101" name="Google Shape;101;p2"/>
          <p:cNvGrpSpPr/>
          <p:nvPr/>
        </p:nvGrpSpPr>
        <p:grpSpPr>
          <a:xfrm>
            <a:off x="8986898" y="1108475"/>
            <a:ext cx="7521251" cy="1487194"/>
            <a:chOff x="0" y="9525"/>
            <a:chExt cx="10028335" cy="1982926"/>
          </a:xfrm>
        </p:grpSpPr>
        <p:sp>
          <p:nvSpPr>
            <p:cNvPr id="102" name="Google Shape;102;p2"/>
            <p:cNvSpPr txBox="1"/>
            <p:nvPr/>
          </p:nvSpPr>
          <p:spPr>
            <a:xfrm>
              <a:off x="0" y="9525"/>
              <a:ext cx="10028335" cy="7143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3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CHỨC NĂNG CỐT LÕI</a:t>
              </a:r>
              <a:endParaRPr/>
            </a:p>
          </p:txBody>
        </p:sp>
        <p:sp>
          <p:nvSpPr>
            <p:cNvPr id="103" name="Google Shape;103;p2"/>
            <p:cNvSpPr txBox="1"/>
            <p:nvPr/>
          </p:nvSpPr>
          <p:spPr>
            <a:xfrm>
              <a:off x="0" y="1072848"/>
              <a:ext cx="9597416" cy="91960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Kiểm soát hiệu quả các nghiệp vụ thu phí, quản lý hợp đồng và dòng tiền phát sinh trong hoạt động vận hành</a:t>
              </a:r>
              <a:endParaRPr/>
            </a:p>
          </p:txBody>
        </p:sp>
      </p:grpSp>
      <p:grpSp>
        <p:nvGrpSpPr>
          <p:cNvPr id="104" name="Google Shape;104;p2"/>
          <p:cNvGrpSpPr/>
          <p:nvPr/>
        </p:nvGrpSpPr>
        <p:grpSpPr>
          <a:xfrm>
            <a:off x="8986898" y="3358446"/>
            <a:ext cx="8272402" cy="1487261"/>
            <a:chOff x="0" y="9525"/>
            <a:chExt cx="11029869" cy="1983015"/>
          </a:xfrm>
        </p:grpSpPr>
        <p:sp>
          <p:nvSpPr>
            <p:cNvPr id="105" name="Google Shape;105;p2"/>
            <p:cNvSpPr txBox="1"/>
            <p:nvPr/>
          </p:nvSpPr>
          <p:spPr>
            <a:xfrm>
              <a:off x="0" y="9525"/>
              <a:ext cx="11029869" cy="7143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3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NGHIỆP VỤ CHUYÊN SÂU</a:t>
              </a:r>
              <a:endParaRPr/>
            </a:p>
          </p:txBody>
        </p:sp>
        <p:sp>
          <p:nvSpPr>
            <p:cNvPr id="106" name="Google Shape;106;p2"/>
            <p:cNvSpPr txBox="1"/>
            <p:nvPr/>
          </p:nvSpPr>
          <p:spPr>
            <a:xfrm>
              <a:off x="0" y="1072848"/>
              <a:ext cx="11029869" cy="9196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Theo dõi dự thu, thanh toán &amp; công nợ</a:t>
              </a:r>
              <a:endParaRPr/>
            </a:p>
            <a:p>
              <a:pPr indent="0" lvl="0" marL="0" marR="0" rtl="0" algn="l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Kiểm soát thu – chi, truy vấn dữ liệu tập trung</a:t>
              </a:r>
              <a:endParaRPr/>
            </a:p>
          </p:txBody>
        </p:sp>
      </p:grpSp>
      <p:grpSp>
        <p:nvGrpSpPr>
          <p:cNvPr id="107" name="Google Shape;107;p2"/>
          <p:cNvGrpSpPr/>
          <p:nvPr/>
        </p:nvGrpSpPr>
        <p:grpSpPr>
          <a:xfrm>
            <a:off x="8986898" y="5501810"/>
            <a:ext cx="8272402" cy="1487261"/>
            <a:chOff x="0" y="9525"/>
            <a:chExt cx="11029869" cy="1983015"/>
          </a:xfrm>
        </p:grpSpPr>
        <p:sp>
          <p:nvSpPr>
            <p:cNvPr id="108" name="Google Shape;108;p2"/>
            <p:cNvSpPr txBox="1"/>
            <p:nvPr/>
          </p:nvSpPr>
          <p:spPr>
            <a:xfrm>
              <a:off x="0" y="9525"/>
              <a:ext cx="11029869" cy="7143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3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LỢI ÍCH NỔI BẬT</a:t>
              </a:r>
              <a:endParaRPr/>
            </a:p>
          </p:txBody>
        </p:sp>
        <p:sp>
          <p:nvSpPr>
            <p:cNvPr id="109" name="Google Shape;109;p2"/>
            <p:cNvSpPr txBox="1"/>
            <p:nvPr/>
          </p:nvSpPr>
          <p:spPr>
            <a:xfrm>
              <a:off x="0" y="1072848"/>
              <a:ext cx="11029869" cy="9196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Minh bạch tài chính – công nợ rõ ràng</a:t>
              </a:r>
              <a:endParaRPr/>
            </a:p>
            <a:p>
              <a:pPr indent="0" lvl="0" marL="0" marR="0" rtl="0" algn="l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Chủ động dòng tiền, nâng cao hiệu quả quản lý</a:t>
              </a:r>
              <a:endParaRPr/>
            </a:p>
          </p:txBody>
        </p:sp>
      </p:grpSp>
      <p:sp>
        <p:nvSpPr>
          <p:cNvPr id="110" name="Google Shape;110;p2"/>
          <p:cNvSpPr/>
          <p:nvPr/>
        </p:nvSpPr>
        <p:spPr>
          <a:xfrm rot="10800000">
            <a:off x="0" y="5994268"/>
            <a:ext cx="3631152" cy="3144594"/>
          </a:xfrm>
          <a:custGeom>
            <a:rect b="b" l="l" r="r" t="t"/>
            <a:pathLst>
              <a:path extrusionOk="0" h="3134614" w="3619627">
                <a:moveTo>
                  <a:pt x="3619627" y="1567307"/>
                </a:moveTo>
                <a:lnTo>
                  <a:pt x="2714752" y="3134614"/>
                </a:lnTo>
                <a:lnTo>
                  <a:pt x="904875" y="3134614"/>
                </a:lnTo>
                <a:lnTo>
                  <a:pt x="0" y="1567307"/>
                </a:lnTo>
                <a:lnTo>
                  <a:pt x="904875" y="0"/>
                </a:lnTo>
                <a:lnTo>
                  <a:pt x="2714625" y="0"/>
                </a:lnTo>
                <a:lnTo>
                  <a:pt x="3619627" y="1567307"/>
                </a:lnTo>
                <a:close/>
              </a:path>
            </a:pathLst>
          </a:custGeom>
          <a:solidFill>
            <a:srgbClr val="004651"/>
          </a:solidFill>
          <a:ln>
            <a:noFill/>
          </a:ln>
        </p:spPr>
      </p:sp>
      <p:sp>
        <p:nvSpPr>
          <p:cNvPr id="111" name="Google Shape;111;p2"/>
          <p:cNvSpPr/>
          <p:nvPr/>
        </p:nvSpPr>
        <p:spPr>
          <a:xfrm>
            <a:off x="483804" y="2558029"/>
            <a:ext cx="6602537" cy="5717499"/>
          </a:xfrm>
          <a:custGeom>
            <a:rect b="b" l="l" r="r" t="t"/>
            <a:pathLst>
              <a:path extrusionOk="0" h="3708400" w="4282440">
                <a:moveTo>
                  <a:pt x="3211830" y="0"/>
                </a:moveTo>
                <a:lnTo>
                  <a:pt x="1070610" y="0"/>
                </a:lnTo>
                <a:lnTo>
                  <a:pt x="0" y="1854200"/>
                </a:lnTo>
                <a:lnTo>
                  <a:pt x="1070610" y="3708400"/>
                </a:lnTo>
                <a:lnTo>
                  <a:pt x="3211830" y="3708400"/>
                </a:lnTo>
                <a:lnTo>
                  <a:pt x="4282440" y="185420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-3321" r="-26896" t="0"/>
            </a:stretch>
          </a:blipFill>
          <a:ln>
            <a:noFill/>
          </a:ln>
        </p:spPr>
      </p:sp>
      <p:cxnSp>
        <p:nvCxnSpPr>
          <p:cNvPr id="112" name="Google Shape;112;p2"/>
          <p:cNvCxnSpPr/>
          <p:nvPr/>
        </p:nvCxnSpPr>
        <p:spPr>
          <a:xfrm>
            <a:off x="8986898" y="7335473"/>
            <a:ext cx="8272402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13" name="Google Shape;113;p2"/>
          <p:cNvGrpSpPr/>
          <p:nvPr/>
        </p:nvGrpSpPr>
        <p:grpSpPr>
          <a:xfrm>
            <a:off x="8986898" y="7651602"/>
            <a:ext cx="8272402" cy="1487194"/>
            <a:chOff x="0" y="9525"/>
            <a:chExt cx="11029869" cy="1982926"/>
          </a:xfrm>
        </p:grpSpPr>
        <p:sp>
          <p:nvSpPr>
            <p:cNvPr id="114" name="Google Shape;114;p2"/>
            <p:cNvSpPr txBox="1"/>
            <p:nvPr/>
          </p:nvSpPr>
          <p:spPr>
            <a:xfrm>
              <a:off x="0" y="9525"/>
              <a:ext cx="11029869" cy="7143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3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GIÁ TRỊ KHÁC BIỆT</a:t>
              </a:r>
              <a:endParaRPr/>
            </a:p>
          </p:txBody>
        </p:sp>
        <p:sp>
          <p:nvSpPr>
            <p:cNvPr id="115" name="Google Shape;115;p2"/>
            <p:cNvSpPr txBox="1"/>
            <p:nvPr/>
          </p:nvSpPr>
          <p:spPr>
            <a:xfrm>
              <a:off x="0" y="1072848"/>
              <a:ext cx="11029869" cy="91960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Quản trị toàn diện - Kết nối đồng bộ - Tùy chỉnh đặc thù</a:t>
              </a:r>
              <a:endParaRPr/>
            </a:p>
            <a:p>
              <a:pPr indent="0" lvl="0" marL="0" marR="0" rtl="0" algn="l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Dịch vụ tận tâm - Cam kết đồng hành</a:t>
              </a:r>
              <a:endParaRPr/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3"/>
          <p:cNvSpPr/>
          <p:nvPr/>
        </p:nvSpPr>
        <p:spPr>
          <a:xfrm rot="10800000">
            <a:off x="11798163" y="5803579"/>
            <a:ext cx="7388722" cy="6398668"/>
          </a:xfrm>
          <a:custGeom>
            <a:rect b="b" l="l" r="r" t="t"/>
            <a:pathLst>
              <a:path extrusionOk="0" h="3134614" w="3619627">
                <a:moveTo>
                  <a:pt x="3619627" y="1567307"/>
                </a:moveTo>
                <a:lnTo>
                  <a:pt x="2714752" y="3134614"/>
                </a:lnTo>
                <a:lnTo>
                  <a:pt x="904875" y="3134614"/>
                </a:lnTo>
                <a:lnTo>
                  <a:pt x="0" y="1567307"/>
                </a:lnTo>
                <a:lnTo>
                  <a:pt x="904875" y="0"/>
                </a:lnTo>
                <a:lnTo>
                  <a:pt x="2714625" y="0"/>
                </a:lnTo>
                <a:lnTo>
                  <a:pt x="3619627" y="1567307"/>
                </a:lnTo>
                <a:close/>
              </a:path>
            </a:pathLst>
          </a:custGeom>
          <a:solidFill>
            <a:srgbClr val="004651"/>
          </a:solidFill>
          <a:ln>
            <a:noFill/>
          </a:ln>
        </p:spPr>
      </p:sp>
      <p:sp>
        <p:nvSpPr>
          <p:cNvPr id="121" name="Google Shape;121;p3"/>
          <p:cNvSpPr/>
          <p:nvPr/>
        </p:nvSpPr>
        <p:spPr>
          <a:xfrm rot="10800000">
            <a:off x="14620826" y="781968"/>
            <a:ext cx="5276948" cy="4569862"/>
          </a:xfrm>
          <a:custGeom>
            <a:rect b="b" l="l" r="r" t="t"/>
            <a:pathLst>
              <a:path extrusionOk="0" h="3134614" w="3619627">
                <a:moveTo>
                  <a:pt x="3619627" y="1567307"/>
                </a:moveTo>
                <a:lnTo>
                  <a:pt x="2714752" y="3134614"/>
                </a:lnTo>
                <a:lnTo>
                  <a:pt x="904875" y="3134614"/>
                </a:lnTo>
                <a:lnTo>
                  <a:pt x="0" y="1567307"/>
                </a:lnTo>
                <a:lnTo>
                  <a:pt x="904875" y="0"/>
                </a:lnTo>
                <a:lnTo>
                  <a:pt x="2714625" y="0"/>
                </a:lnTo>
                <a:lnTo>
                  <a:pt x="3619627" y="1567307"/>
                </a:lnTo>
                <a:close/>
              </a:path>
            </a:pathLst>
          </a:custGeom>
          <a:solidFill>
            <a:srgbClr val="00A181"/>
          </a:solidFill>
          <a:ln>
            <a:noFill/>
          </a:ln>
        </p:spPr>
      </p:sp>
      <p:sp>
        <p:nvSpPr>
          <p:cNvPr id="122" name="Google Shape;122;p3"/>
          <p:cNvSpPr/>
          <p:nvPr/>
        </p:nvSpPr>
        <p:spPr>
          <a:xfrm>
            <a:off x="8839887" y="1698135"/>
            <a:ext cx="7957376" cy="6890729"/>
          </a:xfrm>
          <a:custGeom>
            <a:rect b="b" l="l" r="r" t="t"/>
            <a:pathLst>
              <a:path extrusionOk="0" h="3708400" w="4282440">
                <a:moveTo>
                  <a:pt x="3211830" y="0"/>
                </a:moveTo>
                <a:lnTo>
                  <a:pt x="1070610" y="0"/>
                </a:lnTo>
                <a:lnTo>
                  <a:pt x="0" y="1854200"/>
                </a:lnTo>
                <a:lnTo>
                  <a:pt x="1070610" y="3708400"/>
                </a:lnTo>
                <a:lnTo>
                  <a:pt x="3211830" y="3708400"/>
                </a:lnTo>
                <a:lnTo>
                  <a:pt x="4282440" y="185420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22173" l="0" r="0" t="-22173"/>
            </a:stretch>
          </a:blipFill>
          <a:ln>
            <a:noFill/>
          </a:ln>
        </p:spPr>
      </p:sp>
      <p:sp>
        <p:nvSpPr>
          <p:cNvPr id="123" name="Google Shape;123;p3"/>
          <p:cNvSpPr/>
          <p:nvPr/>
        </p:nvSpPr>
        <p:spPr>
          <a:xfrm rot="10800000">
            <a:off x="6647119" y="7356773"/>
            <a:ext cx="3801687" cy="3292279"/>
          </a:xfrm>
          <a:custGeom>
            <a:rect b="b" l="l" r="r" t="t"/>
            <a:pathLst>
              <a:path extrusionOk="0" h="3134614" w="3619627">
                <a:moveTo>
                  <a:pt x="3619627" y="1567307"/>
                </a:moveTo>
                <a:lnTo>
                  <a:pt x="2714752" y="3134614"/>
                </a:lnTo>
                <a:lnTo>
                  <a:pt x="904875" y="3134614"/>
                </a:lnTo>
                <a:lnTo>
                  <a:pt x="0" y="1567307"/>
                </a:lnTo>
                <a:lnTo>
                  <a:pt x="904875" y="0"/>
                </a:lnTo>
                <a:lnTo>
                  <a:pt x="2714625" y="0"/>
                </a:lnTo>
                <a:lnTo>
                  <a:pt x="3619627" y="1567307"/>
                </a:lnTo>
                <a:close/>
              </a:path>
            </a:pathLst>
          </a:custGeom>
          <a:solidFill>
            <a:srgbClr val="00A650"/>
          </a:solidFill>
          <a:ln>
            <a:noFill/>
          </a:ln>
        </p:spPr>
      </p:sp>
      <p:sp>
        <p:nvSpPr>
          <p:cNvPr id="124" name="Google Shape;124;p3"/>
          <p:cNvSpPr/>
          <p:nvPr/>
        </p:nvSpPr>
        <p:spPr>
          <a:xfrm>
            <a:off x="-2247933" y="3488390"/>
            <a:ext cx="10601188" cy="3310220"/>
          </a:xfrm>
          <a:custGeom>
            <a:rect b="b" l="l" r="r" t="t"/>
            <a:pathLst>
              <a:path extrusionOk="0" h="3070598" w="9833785">
                <a:moveTo>
                  <a:pt x="9833785" y="1535299"/>
                </a:moveTo>
                <a:lnTo>
                  <a:pt x="8928910" y="3070598"/>
                </a:lnTo>
                <a:lnTo>
                  <a:pt x="904875" y="3070598"/>
                </a:lnTo>
                <a:lnTo>
                  <a:pt x="0" y="1535299"/>
                </a:lnTo>
                <a:lnTo>
                  <a:pt x="904875" y="0"/>
                </a:lnTo>
                <a:lnTo>
                  <a:pt x="8928783" y="0"/>
                </a:lnTo>
                <a:lnTo>
                  <a:pt x="9833785" y="1535299"/>
                </a:lnTo>
                <a:close/>
              </a:path>
            </a:pathLst>
          </a:custGeom>
          <a:solidFill>
            <a:srgbClr val="A4E473"/>
          </a:solidFill>
          <a:ln>
            <a:noFill/>
          </a:ln>
        </p:spPr>
      </p:sp>
      <p:sp>
        <p:nvSpPr>
          <p:cNvPr id="125" name="Google Shape;125;p3"/>
          <p:cNvSpPr txBox="1"/>
          <p:nvPr/>
        </p:nvSpPr>
        <p:spPr>
          <a:xfrm>
            <a:off x="1028700" y="3686208"/>
            <a:ext cx="6510346" cy="29050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Chức năng nghiệp vụ</a:t>
            </a:r>
            <a:endParaRPr/>
          </a:p>
        </p:txBody>
      </p:sp>
      <p:sp>
        <p:nvSpPr>
          <p:cNvPr id="126" name="Google Shape;126;p3"/>
          <p:cNvSpPr/>
          <p:nvPr/>
        </p:nvSpPr>
        <p:spPr>
          <a:xfrm>
            <a:off x="17477112" y="-104775"/>
            <a:ext cx="810888" cy="810888"/>
          </a:xfrm>
          <a:custGeom>
            <a:rect b="b" l="l" r="r" t="t"/>
            <a:pathLst>
              <a:path extrusionOk="0" h="810888" w="810888">
                <a:moveTo>
                  <a:pt x="0" y="0"/>
                </a:moveTo>
                <a:lnTo>
                  <a:pt x="810888" y="0"/>
                </a:lnTo>
                <a:lnTo>
                  <a:pt x="810888" y="810888"/>
                </a:lnTo>
                <a:lnTo>
                  <a:pt x="0" y="81088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4"/>
          <p:cNvSpPr/>
          <p:nvPr/>
        </p:nvSpPr>
        <p:spPr>
          <a:xfrm>
            <a:off x="10753396" y="940534"/>
            <a:ext cx="7295929" cy="2401609"/>
          </a:xfrm>
          <a:custGeom>
            <a:rect b="b" l="l" r="r" t="t"/>
            <a:pathLst>
              <a:path extrusionOk="0" h="30020118" w="91199115">
                <a:moveTo>
                  <a:pt x="90336787" y="0"/>
                </a:moveTo>
                <a:lnTo>
                  <a:pt x="862330" y="0"/>
                </a:lnTo>
                <a:cubicBezTo>
                  <a:pt x="389890" y="0"/>
                  <a:pt x="0" y="389890"/>
                  <a:pt x="0" y="862330"/>
                </a:cubicBezTo>
                <a:lnTo>
                  <a:pt x="0" y="29157786"/>
                </a:lnTo>
                <a:cubicBezTo>
                  <a:pt x="0" y="29630226"/>
                  <a:pt x="389890" y="30020118"/>
                  <a:pt x="862330" y="30020118"/>
                </a:cubicBezTo>
                <a:lnTo>
                  <a:pt x="90336787" y="30020118"/>
                </a:lnTo>
                <a:cubicBezTo>
                  <a:pt x="90809223" y="30020118"/>
                  <a:pt x="91199115" y="29630226"/>
                  <a:pt x="91199115" y="29157786"/>
                </a:cubicBezTo>
                <a:lnTo>
                  <a:pt x="91199115" y="862330"/>
                </a:lnTo>
                <a:cubicBezTo>
                  <a:pt x="91199115" y="389890"/>
                  <a:pt x="90809223" y="0"/>
                  <a:pt x="90336787" y="0"/>
                </a:cubicBezTo>
                <a:close/>
                <a:moveTo>
                  <a:pt x="91008615" y="927100"/>
                </a:moveTo>
                <a:lnTo>
                  <a:pt x="91008615" y="29157786"/>
                </a:lnTo>
                <a:cubicBezTo>
                  <a:pt x="91008615" y="29524818"/>
                  <a:pt x="90703815" y="29829618"/>
                  <a:pt x="90336787" y="29829618"/>
                </a:cubicBezTo>
                <a:lnTo>
                  <a:pt x="862330" y="29829618"/>
                </a:lnTo>
                <a:cubicBezTo>
                  <a:pt x="495300" y="29829618"/>
                  <a:pt x="190500" y="29524818"/>
                  <a:pt x="190500" y="29157786"/>
                </a:cubicBezTo>
                <a:lnTo>
                  <a:pt x="190500" y="862330"/>
                </a:lnTo>
                <a:cubicBezTo>
                  <a:pt x="190500" y="495300"/>
                  <a:pt x="495300" y="190500"/>
                  <a:pt x="862330" y="190500"/>
                </a:cubicBezTo>
                <a:lnTo>
                  <a:pt x="90336787" y="190500"/>
                </a:lnTo>
                <a:cubicBezTo>
                  <a:pt x="90703815" y="190500"/>
                  <a:pt x="91008615" y="495300"/>
                  <a:pt x="91008615" y="862330"/>
                </a:cubicBezTo>
                <a:lnTo>
                  <a:pt x="91008615" y="927100"/>
                </a:lnTo>
                <a:close/>
              </a:path>
            </a:pathLst>
          </a:custGeom>
          <a:solidFill>
            <a:srgbClr val="D838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4"/>
          <p:cNvSpPr/>
          <p:nvPr/>
        </p:nvSpPr>
        <p:spPr>
          <a:xfrm>
            <a:off x="382677" y="1990946"/>
            <a:ext cx="10182611" cy="6707795"/>
          </a:xfrm>
          <a:custGeom>
            <a:rect b="b" l="l" r="r" t="t"/>
            <a:pathLst>
              <a:path extrusionOk="0" h="6707795" w="10182611">
                <a:moveTo>
                  <a:pt x="0" y="0"/>
                </a:moveTo>
                <a:lnTo>
                  <a:pt x="10182611" y="0"/>
                </a:lnTo>
                <a:lnTo>
                  <a:pt x="10182611" y="6707794"/>
                </a:lnTo>
                <a:lnTo>
                  <a:pt x="0" y="67077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cxnSp>
        <p:nvCxnSpPr>
          <p:cNvPr id="133" name="Google Shape;133;p4"/>
          <p:cNvCxnSpPr/>
          <p:nvPr/>
        </p:nvCxnSpPr>
        <p:spPr>
          <a:xfrm rot="10800000">
            <a:off x="4307738" y="1505935"/>
            <a:ext cx="0" cy="863658"/>
          </a:xfrm>
          <a:prstGeom prst="straightConnector1">
            <a:avLst/>
          </a:prstGeom>
          <a:noFill/>
          <a:ln cap="flat" cmpd="sng" w="38100">
            <a:solidFill>
              <a:srgbClr val="ED1C24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4" name="Google Shape;134;p4"/>
          <p:cNvCxnSpPr/>
          <p:nvPr/>
        </p:nvCxnSpPr>
        <p:spPr>
          <a:xfrm flipH="1" rot="10800000">
            <a:off x="4288235" y="1505894"/>
            <a:ext cx="6482157" cy="5625"/>
          </a:xfrm>
          <a:prstGeom prst="straightConnector1">
            <a:avLst/>
          </a:prstGeom>
          <a:noFill/>
          <a:ln cap="flat" cmpd="sng" w="38100">
            <a:solidFill>
              <a:srgbClr val="ED1C2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5" name="Google Shape;135;p4"/>
          <p:cNvSpPr/>
          <p:nvPr/>
        </p:nvSpPr>
        <p:spPr>
          <a:xfrm>
            <a:off x="9222584" y="3724048"/>
            <a:ext cx="8666073" cy="5838767"/>
          </a:xfrm>
          <a:custGeom>
            <a:rect b="b" l="l" r="r" t="t"/>
            <a:pathLst>
              <a:path extrusionOk="0" h="5838767" w="8666073">
                <a:moveTo>
                  <a:pt x="0" y="0"/>
                </a:moveTo>
                <a:lnTo>
                  <a:pt x="8666074" y="0"/>
                </a:lnTo>
                <a:lnTo>
                  <a:pt x="8666074" y="5838767"/>
                </a:lnTo>
                <a:lnTo>
                  <a:pt x="0" y="583876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36" name="Google Shape;136;p4"/>
          <p:cNvSpPr txBox="1"/>
          <p:nvPr/>
        </p:nvSpPr>
        <p:spPr>
          <a:xfrm>
            <a:off x="9139238" y="4652327"/>
            <a:ext cx="9525" cy="8870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4043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4"/>
          <p:cNvSpPr txBox="1"/>
          <p:nvPr/>
        </p:nvSpPr>
        <p:spPr>
          <a:xfrm>
            <a:off x="10770392" y="1243738"/>
            <a:ext cx="7118265" cy="22132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226695" lvl="1" marL="45339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2100"/>
              <a:buFont typeface="Arial"/>
              <a:buChar char="•"/>
            </a:pPr>
            <a:r>
              <a:rPr b="0" i="0" lang="en-US" sz="21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Xác định chính xác số tiền phải thu theo từng quầy và khách hàng trong kỳ</a:t>
            </a:r>
            <a:endParaRPr b="0" i="0" sz="2100" u="none" cap="none" strike="noStrike">
              <a:solidFill>
                <a:srgbClr val="19191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6695" lvl="1" marL="45339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2100"/>
              <a:buFont typeface="Arial"/>
              <a:buChar char="•"/>
            </a:pPr>
            <a:r>
              <a:rPr b="0" i="0" lang="en-US" sz="21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Tự động tổng hợp các khoản phí phát sinh, hạn chế sai sót, đảm bảo dữ liệu nhất quán</a:t>
            </a:r>
            <a:endParaRPr b="0" i="0" sz="2100" u="none" cap="none" strike="noStrike">
              <a:solidFill>
                <a:srgbClr val="19191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6695" lvl="1" marL="45339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2100"/>
              <a:buFont typeface="Arial"/>
              <a:buChar char="•"/>
            </a:pPr>
            <a:r>
              <a:rPr b="0" i="0" lang="en-US" sz="21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Phục vụ cho nghiệp vụ thu tiền, đối soát và truy vấn</a:t>
            </a:r>
            <a:endParaRPr b="0" i="0" sz="2100" u="none" cap="none" strike="noStrike">
              <a:solidFill>
                <a:srgbClr val="19191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100" u="none" cap="none" strike="noStrike">
              <a:solidFill>
                <a:srgbClr val="19191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p4"/>
          <p:cNvSpPr txBox="1"/>
          <p:nvPr/>
        </p:nvSpPr>
        <p:spPr>
          <a:xfrm>
            <a:off x="382677" y="452746"/>
            <a:ext cx="13626948" cy="5759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300" u="none" cap="none" strike="noStrike">
                <a:solidFill>
                  <a:srgbClr val="C8132C"/>
                </a:solidFill>
                <a:latin typeface="Arial"/>
                <a:ea typeface="Arial"/>
                <a:cs typeface="Arial"/>
                <a:sym typeface="Arial"/>
              </a:rPr>
              <a:t>1. THÔNG TIN CHI TIẾT</a:t>
            </a:r>
            <a:endParaRPr/>
          </a:p>
        </p:txBody>
      </p:sp>
      <p:sp>
        <p:nvSpPr>
          <p:cNvPr id="139" name="Google Shape;139;p4"/>
          <p:cNvSpPr/>
          <p:nvPr/>
        </p:nvSpPr>
        <p:spPr>
          <a:xfrm>
            <a:off x="17477112" y="-104775"/>
            <a:ext cx="810888" cy="810888"/>
          </a:xfrm>
          <a:custGeom>
            <a:rect b="b" l="l" r="r" t="t"/>
            <a:pathLst>
              <a:path extrusionOk="0" h="810888" w="810888">
                <a:moveTo>
                  <a:pt x="0" y="0"/>
                </a:moveTo>
                <a:lnTo>
                  <a:pt x="810888" y="0"/>
                </a:lnTo>
                <a:lnTo>
                  <a:pt x="810888" y="810888"/>
                </a:lnTo>
                <a:lnTo>
                  <a:pt x="0" y="81088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  <p:transition spd="slow">
    <p:push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4" name="Google Shape;144;p5"/>
          <p:cNvCxnSpPr/>
          <p:nvPr/>
        </p:nvCxnSpPr>
        <p:spPr>
          <a:xfrm rot="10800000">
            <a:off x="4307738" y="1505935"/>
            <a:ext cx="0" cy="2041064"/>
          </a:xfrm>
          <a:prstGeom prst="straightConnector1">
            <a:avLst/>
          </a:prstGeom>
          <a:noFill/>
          <a:ln cap="flat" cmpd="sng" w="38100">
            <a:solidFill>
              <a:srgbClr val="ED1C24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45" name="Google Shape;145;p5"/>
          <p:cNvCxnSpPr/>
          <p:nvPr/>
        </p:nvCxnSpPr>
        <p:spPr>
          <a:xfrm flipH="1">
            <a:off x="4307738" y="1505935"/>
            <a:ext cx="7421648" cy="19050"/>
          </a:xfrm>
          <a:prstGeom prst="straightConnector1">
            <a:avLst/>
          </a:prstGeom>
          <a:noFill/>
          <a:ln cap="flat" cmpd="sng" w="38100">
            <a:solidFill>
              <a:srgbClr val="ED1C2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6" name="Google Shape;146;p5"/>
          <p:cNvSpPr/>
          <p:nvPr/>
        </p:nvSpPr>
        <p:spPr>
          <a:xfrm>
            <a:off x="11766276" y="1187438"/>
            <a:ext cx="6046297" cy="1925529"/>
          </a:xfrm>
          <a:custGeom>
            <a:rect b="b" l="l" r="r" t="t"/>
            <a:pathLst>
              <a:path extrusionOk="0" h="24069108" w="75578711">
                <a:moveTo>
                  <a:pt x="74716382" y="0"/>
                </a:moveTo>
                <a:lnTo>
                  <a:pt x="862330" y="0"/>
                </a:lnTo>
                <a:cubicBezTo>
                  <a:pt x="389890" y="0"/>
                  <a:pt x="0" y="389890"/>
                  <a:pt x="0" y="862330"/>
                </a:cubicBezTo>
                <a:lnTo>
                  <a:pt x="0" y="23206777"/>
                </a:lnTo>
                <a:cubicBezTo>
                  <a:pt x="0" y="23679218"/>
                  <a:pt x="389890" y="24069108"/>
                  <a:pt x="862330" y="24069108"/>
                </a:cubicBezTo>
                <a:lnTo>
                  <a:pt x="74716382" y="24069108"/>
                </a:lnTo>
                <a:cubicBezTo>
                  <a:pt x="75188825" y="24069108"/>
                  <a:pt x="75578711" y="23679218"/>
                  <a:pt x="75578711" y="23206777"/>
                </a:cubicBezTo>
                <a:lnTo>
                  <a:pt x="75578711" y="862330"/>
                </a:lnTo>
                <a:cubicBezTo>
                  <a:pt x="75578711" y="389890"/>
                  <a:pt x="75188818" y="0"/>
                  <a:pt x="74716382" y="0"/>
                </a:cubicBezTo>
                <a:close/>
                <a:moveTo>
                  <a:pt x="75388211" y="927100"/>
                </a:moveTo>
                <a:lnTo>
                  <a:pt x="75388211" y="23206777"/>
                </a:lnTo>
                <a:cubicBezTo>
                  <a:pt x="75388211" y="23573808"/>
                  <a:pt x="75083411" y="23878608"/>
                  <a:pt x="74716382" y="23878608"/>
                </a:cubicBezTo>
                <a:lnTo>
                  <a:pt x="862330" y="23878608"/>
                </a:lnTo>
                <a:cubicBezTo>
                  <a:pt x="495300" y="23878608"/>
                  <a:pt x="190500" y="23573808"/>
                  <a:pt x="190500" y="23206777"/>
                </a:cubicBezTo>
                <a:lnTo>
                  <a:pt x="190500" y="862330"/>
                </a:lnTo>
                <a:cubicBezTo>
                  <a:pt x="190500" y="495300"/>
                  <a:pt x="495300" y="190500"/>
                  <a:pt x="862330" y="190500"/>
                </a:cubicBezTo>
                <a:lnTo>
                  <a:pt x="74716382" y="190500"/>
                </a:lnTo>
                <a:cubicBezTo>
                  <a:pt x="75083411" y="190500"/>
                  <a:pt x="75388211" y="495300"/>
                  <a:pt x="75388211" y="862330"/>
                </a:cubicBezTo>
                <a:lnTo>
                  <a:pt x="75388211" y="927100"/>
                </a:lnTo>
                <a:close/>
              </a:path>
            </a:pathLst>
          </a:custGeom>
          <a:solidFill>
            <a:srgbClr val="D838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5"/>
          <p:cNvSpPr/>
          <p:nvPr/>
        </p:nvSpPr>
        <p:spPr>
          <a:xfrm>
            <a:off x="309774" y="2150203"/>
            <a:ext cx="11400561" cy="5458018"/>
          </a:xfrm>
          <a:custGeom>
            <a:rect b="b" l="l" r="r" t="t"/>
            <a:pathLst>
              <a:path extrusionOk="0" h="5458018" w="11400561">
                <a:moveTo>
                  <a:pt x="0" y="0"/>
                </a:moveTo>
                <a:lnTo>
                  <a:pt x="11400561" y="0"/>
                </a:lnTo>
                <a:lnTo>
                  <a:pt x="11400561" y="5458018"/>
                </a:lnTo>
                <a:lnTo>
                  <a:pt x="0" y="545801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48" name="Google Shape;148;p5"/>
          <p:cNvSpPr/>
          <p:nvPr/>
        </p:nvSpPr>
        <p:spPr>
          <a:xfrm>
            <a:off x="9144000" y="3283401"/>
            <a:ext cx="8809412" cy="5814212"/>
          </a:xfrm>
          <a:custGeom>
            <a:rect b="b" l="l" r="r" t="t"/>
            <a:pathLst>
              <a:path extrusionOk="0" h="5814212" w="8809412">
                <a:moveTo>
                  <a:pt x="0" y="0"/>
                </a:moveTo>
                <a:lnTo>
                  <a:pt x="8809412" y="0"/>
                </a:lnTo>
                <a:lnTo>
                  <a:pt x="8809412" y="5814212"/>
                </a:lnTo>
                <a:lnTo>
                  <a:pt x="0" y="581421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49" name="Google Shape;149;p5"/>
          <p:cNvSpPr/>
          <p:nvPr/>
        </p:nvSpPr>
        <p:spPr>
          <a:xfrm>
            <a:off x="0" y="7608221"/>
            <a:ext cx="3061461" cy="2678779"/>
          </a:xfrm>
          <a:custGeom>
            <a:rect b="b" l="l" r="r" t="t"/>
            <a:pathLst>
              <a:path extrusionOk="0" h="711200" w="812800">
                <a:moveTo>
                  <a:pt x="406400" y="0"/>
                </a:moveTo>
                <a:lnTo>
                  <a:pt x="812800" y="711200"/>
                </a:lnTo>
                <a:lnTo>
                  <a:pt x="0" y="711200"/>
                </a:lnTo>
                <a:lnTo>
                  <a:pt x="40640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-31332" t="0"/>
            </a:stretch>
          </a:blipFill>
          <a:ln>
            <a:noFill/>
          </a:ln>
        </p:spPr>
      </p:sp>
      <p:sp>
        <p:nvSpPr>
          <p:cNvPr id="150" name="Google Shape;150;p5"/>
          <p:cNvSpPr/>
          <p:nvPr/>
        </p:nvSpPr>
        <p:spPr>
          <a:xfrm rot="-81094">
            <a:off x="1860371" y="7646694"/>
            <a:ext cx="3060610" cy="2714139"/>
          </a:xfrm>
          <a:custGeom>
            <a:rect b="b" l="l" r="r" t="t"/>
            <a:pathLst>
              <a:path extrusionOk="0" h="720588" w="812574">
                <a:moveTo>
                  <a:pt x="389511" y="720588"/>
                </a:moveTo>
                <a:lnTo>
                  <a:pt x="0" y="0"/>
                </a:lnTo>
                <a:lnTo>
                  <a:pt x="812574" y="19172"/>
                </a:lnTo>
                <a:lnTo>
                  <a:pt x="389511" y="720588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-1330" l="-18342" r="-16278" t="0"/>
            </a:stretch>
          </a:blipFill>
          <a:ln>
            <a:noFill/>
          </a:ln>
        </p:spPr>
      </p:sp>
      <p:sp>
        <p:nvSpPr>
          <p:cNvPr id="151" name="Google Shape;151;p5"/>
          <p:cNvSpPr/>
          <p:nvPr/>
        </p:nvSpPr>
        <p:spPr>
          <a:xfrm rot="10800000">
            <a:off x="-948043" y="7700723"/>
            <a:ext cx="1847333" cy="1557577"/>
          </a:xfrm>
          <a:custGeom>
            <a:rect b="b" l="l" r="r" t="t"/>
            <a:pathLst>
              <a:path extrusionOk="0" h="3134614" w="3717745">
                <a:moveTo>
                  <a:pt x="3717745" y="1567307"/>
                </a:moveTo>
                <a:lnTo>
                  <a:pt x="2812870" y="3134614"/>
                </a:lnTo>
                <a:lnTo>
                  <a:pt x="904875" y="3134614"/>
                </a:lnTo>
                <a:lnTo>
                  <a:pt x="0" y="1567307"/>
                </a:lnTo>
                <a:lnTo>
                  <a:pt x="904875" y="0"/>
                </a:lnTo>
                <a:lnTo>
                  <a:pt x="2812742" y="0"/>
                </a:lnTo>
                <a:lnTo>
                  <a:pt x="3717745" y="1567307"/>
                </a:lnTo>
                <a:close/>
              </a:path>
            </a:pathLst>
          </a:custGeom>
          <a:solidFill>
            <a:srgbClr val="A4E473"/>
          </a:solidFill>
          <a:ln>
            <a:noFill/>
          </a:ln>
        </p:spPr>
      </p:sp>
      <p:sp>
        <p:nvSpPr>
          <p:cNvPr id="152" name="Google Shape;152;p5"/>
          <p:cNvSpPr/>
          <p:nvPr/>
        </p:nvSpPr>
        <p:spPr>
          <a:xfrm>
            <a:off x="3538951" y="7608221"/>
            <a:ext cx="3061461" cy="2678779"/>
          </a:xfrm>
          <a:custGeom>
            <a:rect b="b" l="l" r="r" t="t"/>
            <a:pathLst>
              <a:path extrusionOk="0" h="711200" w="812800">
                <a:moveTo>
                  <a:pt x="406400" y="0"/>
                </a:moveTo>
                <a:lnTo>
                  <a:pt x="812800" y="711200"/>
                </a:lnTo>
                <a:lnTo>
                  <a:pt x="0" y="711200"/>
                </a:lnTo>
                <a:lnTo>
                  <a:pt x="40640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-30165" r="-25390" t="0"/>
            </a:stretch>
          </a:blipFill>
          <a:ln>
            <a:noFill/>
          </a:ln>
        </p:spPr>
      </p:sp>
      <p:sp>
        <p:nvSpPr>
          <p:cNvPr id="153" name="Google Shape;153;p5"/>
          <p:cNvSpPr txBox="1"/>
          <p:nvPr/>
        </p:nvSpPr>
        <p:spPr>
          <a:xfrm>
            <a:off x="551126" y="476612"/>
            <a:ext cx="9748404" cy="54223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100" u="none" cap="none" strike="noStrike">
                <a:solidFill>
                  <a:srgbClr val="C8132C"/>
                </a:solidFill>
                <a:latin typeface="Arial"/>
                <a:ea typeface="Arial"/>
                <a:cs typeface="Arial"/>
                <a:sym typeface="Arial"/>
              </a:rPr>
              <a:t>2. TÍNH PHÍ TRONG THÁNG</a:t>
            </a:r>
            <a:endParaRPr/>
          </a:p>
        </p:txBody>
      </p:sp>
      <p:sp>
        <p:nvSpPr>
          <p:cNvPr id="154" name="Google Shape;154;p5"/>
          <p:cNvSpPr txBox="1"/>
          <p:nvPr/>
        </p:nvSpPr>
        <p:spPr>
          <a:xfrm>
            <a:off x="12089964" y="1395955"/>
            <a:ext cx="5398920" cy="14703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Truy vấn chính xác nguồn doanh thu, xác định đầy đủ đối tượng thuê, căn hộ, vị trí, diện tích sử dụng và từng khoản phí</a:t>
            </a:r>
            <a:endParaRPr b="0" i="0" sz="2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hình thành nên số tiền phải thu</a:t>
            </a:r>
            <a:endParaRPr b="0" i="0" sz="2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p5"/>
          <p:cNvSpPr/>
          <p:nvPr/>
        </p:nvSpPr>
        <p:spPr>
          <a:xfrm rot="10800000">
            <a:off x="-899289" y="6133357"/>
            <a:ext cx="1798578" cy="1557577"/>
          </a:xfrm>
          <a:custGeom>
            <a:rect b="b" l="l" r="r" t="t"/>
            <a:pathLst>
              <a:path extrusionOk="0" h="3134614" w="3619627">
                <a:moveTo>
                  <a:pt x="3619627" y="1567307"/>
                </a:moveTo>
                <a:lnTo>
                  <a:pt x="2714752" y="3134614"/>
                </a:lnTo>
                <a:lnTo>
                  <a:pt x="904875" y="3134614"/>
                </a:lnTo>
                <a:lnTo>
                  <a:pt x="0" y="1567307"/>
                </a:lnTo>
                <a:lnTo>
                  <a:pt x="904875" y="0"/>
                </a:lnTo>
                <a:lnTo>
                  <a:pt x="2714625" y="0"/>
                </a:lnTo>
                <a:lnTo>
                  <a:pt x="3619627" y="1567307"/>
                </a:lnTo>
                <a:close/>
              </a:path>
            </a:pathLst>
          </a:custGeom>
          <a:solidFill>
            <a:srgbClr val="00A181"/>
          </a:solidFill>
          <a:ln>
            <a:noFill/>
          </a:ln>
        </p:spPr>
      </p:sp>
      <p:sp>
        <p:nvSpPr>
          <p:cNvPr id="156" name="Google Shape;156;p5"/>
          <p:cNvSpPr/>
          <p:nvPr/>
        </p:nvSpPr>
        <p:spPr>
          <a:xfrm>
            <a:off x="17477112" y="-104775"/>
            <a:ext cx="810888" cy="810888"/>
          </a:xfrm>
          <a:custGeom>
            <a:rect b="b" l="l" r="r" t="t"/>
            <a:pathLst>
              <a:path extrusionOk="0" h="810888" w="810888">
                <a:moveTo>
                  <a:pt x="0" y="0"/>
                </a:moveTo>
                <a:lnTo>
                  <a:pt x="810888" y="0"/>
                </a:lnTo>
                <a:lnTo>
                  <a:pt x="810888" y="810888"/>
                </a:lnTo>
                <a:lnTo>
                  <a:pt x="0" y="81088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6"/>
          <p:cNvSpPr/>
          <p:nvPr/>
        </p:nvSpPr>
        <p:spPr>
          <a:xfrm>
            <a:off x="11014601" y="1791975"/>
            <a:ext cx="7029628" cy="6691885"/>
          </a:xfrm>
          <a:custGeom>
            <a:rect b="b" l="l" r="r" t="t"/>
            <a:pathLst>
              <a:path extrusionOk="0" h="877656" w="921952">
                <a:moveTo>
                  <a:pt x="0" y="0"/>
                </a:moveTo>
                <a:lnTo>
                  <a:pt x="921952" y="0"/>
                </a:lnTo>
                <a:lnTo>
                  <a:pt x="921952" y="877656"/>
                </a:lnTo>
                <a:lnTo>
                  <a:pt x="0" y="877656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28540" l="-157524" r="-17382" t="-14768"/>
            </a:stretch>
          </a:blipFill>
          <a:ln>
            <a:noFill/>
          </a:ln>
        </p:spPr>
      </p:sp>
      <p:grpSp>
        <p:nvGrpSpPr>
          <p:cNvPr id="162" name="Google Shape;162;p6"/>
          <p:cNvGrpSpPr/>
          <p:nvPr/>
        </p:nvGrpSpPr>
        <p:grpSpPr>
          <a:xfrm rot="10800000">
            <a:off x="10696397" y="1791975"/>
            <a:ext cx="3082646" cy="7057388"/>
            <a:chOff x="0" y="-38100"/>
            <a:chExt cx="811890" cy="1858736"/>
          </a:xfrm>
        </p:grpSpPr>
        <p:sp>
          <p:nvSpPr>
            <p:cNvPr id="163" name="Google Shape;163;p6"/>
            <p:cNvSpPr/>
            <p:nvPr/>
          </p:nvSpPr>
          <p:spPr>
            <a:xfrm>
              <a:off x="0" y="0"/>
              <a:ext cx="811890" cy="1820636"/>
            </a:xfrm>
            <a:custGeom>
              <a:rect b="b" l="l" r="r" t="t"/>
              <a:pathLst>
                <a:path extrusionOk="0" h="1820636" w="811890">
                  <a:moveTo>
                    <a:pt x="0" y="0"/>
                  </a:moveTo>
                  <a:lnTo>
                    <a:pt x="811890" y="0"/>
                  </a:lnTo>
                  <a:lnTo>
                    <a:pt x="811890" y="1820636"/>
                  </a:lnTo>
                  <a:lnTo>
                    <a:pt x="0" y="1820636"/>
                  </a:lnTo>
                  <a:close/>
                </a:path>
              </a:pathLst>
            </a:custGeom>
            <a:gradFill>
              <a:gsLst>
                <a:gs pos="0">
                  <a:srgbClr val="FFFFFF">
                    <a:alpha val="0"/>
                  </a:srgbClr>
                </a:gs>
                <a:gs pos="50000">
                  <a:srgbClr val="FFFFFF">
                    <a:alpha val="83529"/>
                  </a:srgbClr>
                </a:gs>
                <a:gs pos="100000">
                  <a:srgbClr val="FFFFFF"/>
                </a:gs>
              </a:gsLst>
              <a:lin ang="0" scaled="0"/>
            </a:gradFill>
            <a:ln>
              <a:noFill/>
            </a:ln>
          </p:spPr>
        </p:sp>
        <p:sp>
          <p:nvSpPr>
            <p:cNvPr id="164" name="Google Shape;164;p6"/>
            <p:cNvSpPr txBox="1"/>
            <p:nvPr/>
          </p:nvSpPr>
          <p:spPr>
            <a:xfrm>
              <a:off x="0" y="-38100"/>
              <a:ext cx="811890" cy="185873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65" name="Google Shape;165;p6"/>
          <p:cNvSpPr/>
          <p:nvPr/>
        </p:nvSpPr>
        <p:spPr>
          <a:xfrm>
            <a:off x="-178466" y="2045991"/>
            <a:ext cx="11455750" cy="5936431"/>
          </a:xfrm>
          <a:custGeom>
            <a:rect b="b" l="l" r="r" t="t"/>
            <a:pathLst>
              <a:path extrusionOk="0" h="716824" w="1383281">
                <a:moveTo>
                  <a:pt x="0" y="0"/>
                </a:moveTo>
                <a:lnTo>
                  <a:pt x="1383281" y="0"/>
                </a:lnTo>
                <a:lnTo>
                  <a:pt x="1383281" y="716824"/>
                </a:lnTo>
                <a:lnTo>
                  <a:pt x="0" y="716824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45728" l="0" r="-52177" t="0"/>
            </a:stretch>
          </a:blipFill>
          <a:ln>
            <a:noFill/>
          </a:ln>
        </p:spPr>
      </p:sp>
      <p:sp>
        <p:nvSpPr>
          <p:cNvPr id="166" name="Google Shape;166;p6"/>
          <p:cNvSpPr txBox="1"/>
          <p:nvPr/>
        </p:nvSpPr>
        <p:spPr>
          <a:xfrm>
            <a:off x="9144000" y="9019027"/>
            <a:ext cx="4796701" cy="7144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Hệ thống OMEGA.RS cho phép:</a:t>
            </a:r>
            <a:endParaRPr/>
          </a:p>
          <a:p>
            <a:pPr indent="0" lvl="0" marL="0" marR="0" rtl="0" algn="l">
              <a:lnSpc>
                <a:spcPct val="12000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399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p6"/>
          <p:cNvSpPr txBox="1"/>
          <p:nvPr/>
        </p:nvSpPr>
        <p:spPr>
          <a:xfrm>
            <a:off x="5549408" y="9515613"/>
            <a:ext cx="12212533" cy="666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3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46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Theo dõi chi tiết chi phí biến đổi (tiền điện, tiền nước...) theo từng quầy, từng khách hàng</a:t>
            </a:r>
            <a:endParaRPr/>
          </a:p>
          <a:p>
            <a:pPr indent="0" lvl="0" marL="0" marR="0" rtl="0" algn="l">
              <a:lnSpc>
                <a:spcPct val="12003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246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p6"/>
          <p:cNvSpPr txBox="1"/>
          <p:nvPr/>
        </p:nvSpPr>
        <p:spPr>
          <a:xfrm>
            <a:off x="551126" y="476612"/>
            <a:ext cx="9748404" cy="54223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100" u="none" cap="none" strike="noStrike">
                <a:solidFill>
                  <a:srgbClr val="C8132C"/>
                </a:solidFill>
                <a:latin typeface="Arial"/>
                <a:ea typeface="Arial"/>
                <a:cs typeface="Arial"/>
                <a:sym typeface="Arial"/>
              </a:rPr>
              <a:t>3. KHOẢN PHÍ KHÔNG CỐ ĐỊNH</a:t>
            </a:r>
            <a:endParaRPr/>
          </a:p>
        </p:txBody>
      </p:sp>
      <p:sp>
        <p:nvSpPr>
          <p:cNvPr id="169" name="Google Shape;169;p6"/>
          <p:cNvSpPr/>
          <p:nvPr/>
        </p:nvSpPr>
        <p:spPr>
          <a:xfrm rot="-9255604">
            <a:off x="-1464030" y="8372055"/>
            <a:ext cx="4985461" cy="4317433"/>
          </a:xfrm>
          <a:custGeom>
            <a:rect b="b" l="l" r="r" t="t"/>
            <a:pathLst>
              <a:path extrusionOk="0" h="3134614" w="3619627">
                <a:moveTo>
                  <a:pt x="3619627" y="1567307"/>
                </a:moveTo>
                <a:lnTo>
                  <a:pt x="2714752" y="3134614"/>
                </a:lnTo>
                <a:lnTo>
                  <a:pt x="904875" y="3134614"/>
                </a:lnTo>
                <a:lnTo>
                  <a:pt x="0" y="1567307"/>
                </a:lnTo>
                <a:lnTo>
                  <a:pt x="904875" y="0"/>
                </a:lnTo>
                <a:lnTo>
                  <a:pt x="2714625" y="0"/>
                </a:lnTo>
                <a:lnTo>
                  <a:pt x="3619627" y="1567307"/>
                </a:lnTo>
                <a:close/>
              </a:path>
            </a:pathLst>
          </a:custGeom>
          <a:solidFill>
            <a:srgbClr val="004651"/>
          </a:solidFill>
          <a:ln>
            <a:noFill/>
          </a:ln>
        </p:spPr>
      </p:sp>
      <p:sp>
        <p:nvSpPr>
          <p:cNvPr id="170" name="Google Shape;170;p6"/>
          <p:cNvSpPr/>
          <p:nvPr/>
        </p:nvSpPr>
        <p:spPr>
          <a:xfrm rot="5309593">
            <a:off x="1163170" y="8386136"/>
            <a:ext cx="3378391" cy="2925703"/>
          </a:xfrm>
          <a:custGeom>
            <a:rect b="b" l="l" r="r" t="t"/>
            <a:pathLst>
              <a:path extrusionOk="0" h="3134614" w="3619627">
                <a:moveTo>
                  <a:pt x="3619627" y="1567307"/>
                </a:moveTo>
                <a:lnTo>
                  <a:pt x="2714752" y="3134614"/>
                </a:lnTo>
                <a:lnTo>
                  <a:pt x="904875" y="3134614"/>
                </a:lnTo>
                <a:lnTo>
                  <a:pt x="0" y="1567307"/>
                </a:lnTo>
                <a:lnTo>
                  <a:pt x="904875" y="0"/>
                </a:lnTo>
                <a:lnTo>
                  <a:pt x="2714625" y="0"/>
                </a:lnTo>
                <a:lnTo>
                  <a:pt x="3619627" y="1567307"/>
                </a:lnTo>
                <a:close/>
              </a:path>
            </a:pathLst>
          </a:custGeom>
          <a:solidFill>
            <a:srgbClr val="00A181"/>
          </a:solidFill>
          <a:ln>
            <a:noFill/>
          </a:ln>
        </p:spPr>
      </p:sp>
      <p:sp>
        <p:nvSpPr>
          <p:cNvPr id="171" name="Google Shape;171;p6"/>
          <p:cNvSpPr/>
          <p:nvPr/>
        </p:nvSpPr>
        <p:spPr>
          <a:xfrm>
            <a:off x="17477112" y="-104775"/>
            <a:ext cx="810888" cy="810888"/>
          </a:xfrm>
          <a:custGeom>
            <a:rect b="b" l="l" r="r" t="t"/>
            <a:pathLst>
              <a:path extrusionOk="0" h="810888" w="810888">
                <a:moveTo>
                  <a:pt x="0" y="0"/>
                </a:moveTo>
                <a:lnTo>
                  <a:pt x="810888" y="0"/>
                </a:lnTo>
                <a:lnTo>
                  <a:pt x="810888" y="810888"/>
                </a:lnTo>
                <a:lnTo>
                  <a:pt x="0" y="81088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  <p:transition spd="slow">
    <p:wipe dir="l"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6" name="Google Shape;176;p7"/>
          <p:cNvGrpSpPr/>
          <p:nvPr/>
        </p:nvGrpSpPr>
        <p:grpSpPr>
          <a:xfrm>
            <a:off x="9519063" y="941593"/>
            <a:ext cx="8260250" cy="8616551"/>
            <a:chOff x="0" y="0"/>
            <a:chExt cx="2175539" cy="2269380"/>
          </a:xfrm>
        </p:grpSpPr>
        <p:sp>
          <p:nvSpPr>
            <p:cNvPr id="177" name="Google Shape;177;p7"/>
            <p:cNvSpPr/>
            <p:nvPr/>
          </p:nvSpPr>
          <p:spPr>
            <a:xfrm>
              <a:off x="0" y="0"/>
              <a:ext cx="2175539" cy="2269380"/>
            </a:xfrm>
            <a:custGeom>
              <a:rect b="b" l="l" r="r" t="t"/>
              <a:pathLst>
                <a:path extrusionOk="0" h="2269380" w="2175539">
                  <a:moveTo>
                    <a:pt x="28118" y="0"/>
                  </a:moveTo>
                  <a:lnTo>
                    <a:pt x="2147422" y="0"/>
                  </a:lnTo>
                  <a:cubicBezTo>
                    <a:pt x="2154879" y="0"/>
                    <a:pt x="2162031" y="2962"/>
                    <a:pt x="2167304" y="8235"/>
                  </a:cubicBezTo>
                  <a:cubicBezTo>
                    <a:pt x="2172577" y="13508"/>
                    <a:pt x="2175539" y="20660"/>
                    <a:pt x="2175539" y="28118"/>
                  </a:cubicBezTo>
                  <a:lnTo>
                    <a:pt x="2175539" y="2241262"/>
                  </a:lnTo>
                  <a:cubicBezTo>
                    <a:pt x="2175539" y="2248719"/>
                    <a:pt x="2172577" y="2255871"/>
                    <a:pt x="2167304" y="2261144"/>
                  </a:cubicBezTo>
                  <a:cubicBezTo>
                    <a:pt x="2162031" y="2266417"/>
                    <a:pt x="2154879" y="2269380"/>
                    <a:pt x="2147422" y="2269380"/>
                  </a:cubicBezTo>
                  <a:lnTo>
                    <a:pt x="28118" y="2269380"/>
                  </a:lnTo>
                  <a:cubicBezTo>
                    <a:pt x="20660" y="2269380"/>
                    <a:pt x="13508" y="2266417"/>
                    <a:pt x="8235" y="2261144"/>
                  </a:cubicBezTo>
                  <a:cubicBezTo>
                    <a:pt x="2962" y="2255871"/>
                    <a:pt x="0" y="2248719"/>
                    <a:pt x="0" y="2241262"/>
                  </a:cubicBezTo>
                  <a:lnTo>
                    <a:pt x="0" y="28118"/>
                  </a:lnTo>
                  <a:cubicBezTo>
                    <a:pt x="0" y="20660"/>
                    <a:pt x="2962" y="13508"/>
                    <a:pt x="8235" y="8235"/>
                  </a:cubicBezTo>
                  <a:cubicBezTo>
                    <a:pt x="13508" y="2962"/>
                    <a:pt x="20660" y="0"/>
                    <a:pt x="28118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rnd" cmpd="sng" w="47625">
              <a:solidFill>
                <a:srgbClr val="D6242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" name="Google Shape;178;p7"/>
            <p:cNvSpPr txBox="1"/>
            <p:nvPr/>
          </p:nvSpPr>
          <p:spPr>
            <a:xfrm>
              <a:off x="0" y="28575"/>
              <a:ext cx="2175539" cy="224080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52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79" name="Google Shape;179;p7"/>
          <p:cNvSpPr/>
          <p:nvPr/>
        </p:nvSpPr>
        <p:spPr>
          <a:xfrm>
            <a:off x="9909097" y="1735636"/>
            <a:ext cx="8659068" cy="8865337"/>
          </a:xfrm>
          <a:custGeom>
            <a:rect b="b" l="l" r="r" t="t"/>
            <a:pathLst>
              <a:path extrusionOk="0" h="1451132" w="1417368">
                <a:moveTo>
                  <a:pt x="26822" y="0"/>
                </a:moveTo>
                <a:lnTo>
                  <a:pt x="1390546" y="0"/>
                </a:lnTo>
                <a:cubicBezTo>
                  <a:pt x="1397660" y="0"/>
                  <a:pt x="1404482" y="2826"/>
                  <a:pt x="1409512" y="7856"/>
                </a:cubicBezTo>
                <a:cubicBezTo>
                  <a:pt x="1414542" y="12886"/>
                  <a:pt x="1417368" y="19709"/>
                  <a:pt x="1417368" y="26822"/>
                </a:cubicBezTo>
                <a:lnTo>
                  <a:pt x="1417368" y="1424309"/>
                </a:lnTo>
                <a:cubicBezTo>
                  <a:pt x="1417368" y="1431423"/>
                  <a:pt x="1414542" y="1438245"/>
                  <a:pt x="1409512" y="1443275"/>
                </a:cubicBezTo>
                <a:cubicBezTo>
                  <a:pt x="1404482" y="1448306"/>
                  <a:pt x="1397660" y="1451132"/>
                  <a:pt x="1390546" y="1451132"/>
                </a:cubicBezTo>
                <a:lnTo>
                  <a:pt x="26822" y="1451132"/>
                </a:lnTo>
                <a:cubicBezTo>
                  <a:pt x="19709" y="1451132"/>
                  <a:pt x="12886" y="1448306"/>
                  <a:pt x="7856" y="1443275"/>
                </a:cubicBezTo>
                <a:cubicBezTo>
                  <a:pt x="2826" y="1438245"/>
                  <a:pt x="0" y="1431423"/>
                  <a:pt x="0" y="1424309"/>
                </a:cubicBezTo>
                <a:lnTo>
                  <a:pt x="0" y="26822"/>
                </a:lnTo>
                <a:cubicBezTo>
                  <a:pt x="0" y="19709"/>
                  <a:pt x="2826" y="12886"/>
                  <a:pt x="7856" y="7856"/>
                </a:cubicBezTo>
                <a:cubicBezTo>
                  <a:pt x="12886" y="2826"/>
                  <a:pt x="19709" y="0"/>
                  <a:pt x="26822" y="0"/>
                </a:cubicBez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-47578" t="0"/>
            </a:stretch>
          </a:blip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7"/>
          <p:cNvSpPr/>
          <p:nvPr/>
        </p:nvSpPr>
        <p:spPr>
          <a:xfrm>
            <a:off x="282966" y="2445795"/>
            <a:ext cx="8861034" cy="6158418"/>
          </a:xfrm>
          <a:custGeom>
            <a:rect b="b" l="l" r="r" t="t"/>
            <a:pathLst>
              <a:path extrusionOk="0" h="6158418" w="8861034">
                <a:moveTo>
                  <a:pt x="0" y="0"/>
                </a:moveTo>
                <a:lnTo>
                  <a:pt x="8861034" y="0"/>
                </a:lnTo>
                <a:lnTo>
                  <a:pt x="8861034" y="6158418"/>
                </a:lnTo>
                <a:lnTo>
                  <a:pt x="0" y="615841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81" name="Google Shape;181;p7"/>
          <p:cNvSpPr txBox="1"/>
          <p:nvPr/>
        </p:nvSpPr>
        <p:spPr>
          <a:xfrm>
            <a:off x="551126" y="476612"/>
            <a:ext cx="9748404" cy="54223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100" u="none" cap="none" strike="noStrike">
                <a:solidFill>
                  <a:srgbClr val="C8132C"/>
                </a:solidFill>
                <a:latin typeface="Arial"/>
                <a:ea typeface="Arial"/>
                <a:cs typeface="Arial"/>
                <a:sym typeface="Arial"/>
              </a:rPr>
              <a:t>3.  PHIẾU THU CHI </a:t>
            </a:r>
            <a:endParaRPr/>
          </a:p>
        </p:txBody>
      </p:sp>
      <p:sp>
        <p:nvSpPr>
          <p:cNvPr id="182" name="Google Shape;182;p7"/>
          <p:cNvSpPr txBox="1"/>
          <p:nvPr/>
        </p:nvSpPr>
        <p:spPr>
          <a:xfrm>
            <a:off x="-1520927" y="8736965"/>
            <a:ext cx="9748404" cy="4483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26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Màn hình cập nhật phiếu chi</a:t>
            </a:r>
            <a:endParaRPr/>
          </a:p>
        </p:txBody>
      </p:sp>
      <p:sp>
        <p:nvSpPr>
          <p:cNvPr id="183" name="Google Shape;183;p7"/>
          <p:cNvSpPr txBox="1"/>
          <p:nvPr/>
        </p:nvSpPr>
        <p:spPr>
          <a:xfrm>
            <a:off x="8539596" y="1085850"/>
            <a:ext cx="9748404" cy="4483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26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Màn hình cập nhật phiếu thu</a:t>
            </a:r>
            <a:endParaRPr b="1" i="1" sz="2600" u="none" cap="none" strike="noStrike">
              <a:solidFill>
                <a:srgbClr val="19191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" name="Google Shape;184;p7"/>
          <p:cNvSpPr/>
          <p:nvPr/>
        </p:nvSpPr>
        <p:spPr>
          <a:xfrm>
            <a:off x="17477112" y="-104775"/>
            <a:ext cx="810888" cy="810888"/>
          </a:xfrm>
          <a:custGeom>
            <a:rect b="b" l="l" r="r" t="t"/>
            <a:pathLst>
              <a:path extrusionOk="0" h="810888" w="810888">
                <a:moveTo>
                  <a:pt x="0" y="0"/>
                </a:moveTo>
                <a:lnTo>
                  <a:pt x="810888" y="0"/>
                </a:lnTo>
                <a:lnTo>
                  <a:pt x="810888" y="810888"/>
                </a:lnTo>
                <a:lnTo>
                  <a:pt x="0" y="81088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85" name="Google Shape;185;p7"/>
          <p:cNvSpPr txBox="1"/>
          <p:nvPr/>
        </p:nvSpPr>
        <p:spPr>
          <a:xfrm>
            <a:off x="2333117" y="1338580"/>
            <a:ext cx="4760731" cy="666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3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46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Có thể kết nối </a:t>
            </a:r>
            <a:r>
              <a:rPr b="1" i="0" lang="en-US" sz="2246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API </a:t>
            </a:r>
            <a:r>
              <a:rPr b="0" i="0" lang="en-US" sz="2246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với bên thứ ba hoặc import file Excel vào phần mềm</a:t>
            </a:r>
            <a:endParaRPr b="0" i="0" sz="2246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>
    <mc:Choice Requires="p14">
      <p:transition spd="slow" p14:dur="3400">
        <p14:reveal dir="l"/>
      </p:transition>
    </mc:Choice>
    <mc:Fallback>
      <p:transition spd="med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EFFFE"/>
        </a:solidFill>
      </p:bgPr>
    </p:bg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8"/>
          <p:cNvSpPr/>
          <p:nvPr/>
        </p:nvSpPr>
        <p:spPr>
          <a:xfrm>
            <a:off x="16799111" y="2687862"/>
            <a:ext cx="2977778" cy="2578770"/>
          </a:xfrm>
          <a:custGeom>
            <a:rect b="b" l="l" r="r" t="t"/>
            <a:pathLst>
              <a:path extrusionOk="0" h="3134614" w="3619627">
                <a:moveTo>
                  <a:pt x="3619627" y="1567307"/>
                </a:moveTo>
                <a:lnTo>
                  <a:pt x="2714752" y="3134614"/>
                </a:lnTo>
                <a:lnTo>
                  <a:pt x="904875" y="3134614"/>
                </a:lnTo>
                <a:lnTo>
                  <a:pt x="0" y="1567307"/>
                </a:lnTo>
                <a:lnTo>
                  <a:pt x="904875" y="0"/>
                </a:lnTo>
                <a:lnTo>
                  <a:pt x="2714625" y="0"/>
                </a:lnTo>
                <a:lnTo>
                  <a:pt x="3619627" y="1567307"/>
                </a:lnTo>
                <a:close/>
              </a:path>
            </a:pathLst>
          </a:custGeom>
          <a:solidFill>
            <a:srgbClr val="004651"/>
          </a:solidFill>
          <a:ln>
            <a:noFill/>
          </a:ln>
        </p:spPr>
      </p:sp>
      <p:sp>
        <p:nvSpPr>
          <p:cNvPr id="191" name="Google Shape;191;p8"/>
          <p:cNvSpPr/>
          <p:nvPr/>
        </p:nvSpPr>
        <p:spPr>
          <a:xfrm>
            <a:off x="13660090" y="-135282"/>
            <a:ext cx="4201515" cy="3638531"/>
          </a:xfrm>
          <a:custGeom>
            <a:rect b="b" l="l" r="r" t="t"/>
            <a:pathLst>
              <a:path extrusionOk="0" h="3134614" w="3619627">
                <a:moveTo>
                  <a:pt x="3619627" y="1567307"/>
                </a:moveTo>
                <a:lnTo>
                  <a:pt x="2714752" y="3134614"/>
                </a:lnTo>
                <a:lnTo>
                  <a:pt x="904875" y="3134614"/>
                </a:lnTo>
                <a:lnTo>
                  <a:pt x="0" y="1567307"/>
                </a:lnTo>
                <a:lnTo>
                  <a:pt x="904875" y="0"/>
                </a:lnTo>
                <a:lnTo>
                  <a:pt x="2714625" y="0"/>
                </a:lnTo>
                <a:lnTo>
                  <a:pt x="3619627" y="1567307"/>
                </a:lnTo>
                <a:close/>
              </a:path>
            </a:pathLst>
          </a:custGeom>
          <a:solidFill>
            <a:srgbClr val="00A181"/>
          </a:solidFill>
          <a:ln>
            <a:noFill/>
          </a:ln>
        </p:spPr>
      </p:sp>
      <p:sp>
        <p:nvSpPr>
          <p:cNvPr id="192" name="Google Shape;192;p8"/>
          <p:cNvSpPr/>
          <p:nvPr/>
        </p:nvSpPr>
        <p:spPr>
          <a:xfrm>
            <a:off x="12419395" y="-956153"/>
            <a:ext cx="2481390" cy="2148895"/>
          </a:xfrm>
          <a:custGeom>
            <a:rect b="b" l="l" r="r" t="t"/>
            <a:pathLst>
              <a:path extrusionOk="0" h="3134614" w="3619627">
                <a:moveTo>
                  <a:pt x="3619627" y="1567307"/>
                </a:moveTo>
                <a:lnTo>
                  <a:pt x="2714752" y="3134614"/>
                </a:lnTo>
                <a:lnTo>
                  <a:pt x="904875" y="3134614"/>
                </a:lnTo>
                <a:lnTo>
                  <a:pt x="0" y="1567307"/>
                </a:lnTo>
                <a:lnTo>
                  <a:pt x="904875" y="0"/>
                </a:lnTo>
                <a:lnTo>
                  <a:pt x="2714625" y="0"/>
                </a:lnTo>
                <a:lnTo>
                  <a:pt x="3619627" y="1567307"/>
                </a:lnTo>
                <a:close/>
              </a:path>
            </a:pathLst>
          </a:custGeom>
          <a:solidFill>
            <a:srgbClr val="A4E473"/>
          </a:solidFill>
          <a:ln>
            <a:noFill/>
          </a:ln>
        </p:spPr>
      </p:sp>
      <p:sp>
        <p:nvSpPr>
          <p:cNvPr id="193" name="Google Shape;193;p8"/>
          <p:cNvSpPr/>
          <p:nvPr/>
        </p:nvSpPr>
        <p:spPr>
          <a:xfrm>
            <a:off x="1844613" y="1192742"/>
            <a:ext cx="14212086" cy="6928392"/>
          </a:xfrm>
          <a:custGeom>
            <a:rect b="b" l="l" r="r" t="t"/>
            <a:pathLst>
              <a:path extrusionOk="0" h="6928392" w="14212086">
                <a:moveTo>
                  <a:pt x="0" y="0"/>
                </a:moveTo>
                <a:lnTo>
                  <a:pt x="14212087" y="0"/>
                </a:lnTo>
                <a:lnTo>
                  <a:pt x="14212087" y="6928392"/>
                </a:lnTo>
                <a:lnTo>
                  <a:pt x="0" y="692839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cxnSp>
        <p:nvCxnSpPr>
          <p:cNvPr id="194" name="Google Shape;194;p8"/>
          <p:cNvCxnSpPr/>
          <p:nvPr/>
        </p:nvCxnSpPr>
        <p:spPr>
          <a:xfrm>
            <a:off x="1097932" y="9225704"/>
            <a:ext cx="17019428" cy="0"/>
          </a:xfrm>
          <a:prstGeom prst="straightConnector1">
            <a:avLst/>
          </a:prstGeom>
          <a:noFill/>
          <a:ln cap="rnd" cmpd="sng" w="19050">
            <a:solidFill>
              <a:srgbClr val="00465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5" name="Google Shape;195;p8"/>
          <p:cNvSpPr/>
          <p:nvPr/>
        </p:nvSpPr>
        <p:spPr>
          <a:xfrm>
            <a:off x="861166" y="9051550"/>
            <a:ext cx="380203" cy="329258"/>
          </a:xfrm>
          <a:custGeom>
            <a:rect b="b" l="l" r="r" t="t"/>
            <a:pathLst>
              <a:path extrusionOk="0" h="3134614" w="3619627">
                <a:moveTo>
                  <a:pt x="3619627" y="1567307"/>
                </a:moveTo>
                <a:lnTo>
                  <a:pt x="2714752" y="3134614"/>
                </a:lnTo>
                <a:lnTo>
                  <a:pt x="904875" y="3134614"/>
                </a:lnTo>
                <a:lnTo>
                  <a:pt x="0" y="1567307"/>
                </a:lnTo>
                <a:lnTo>
                  <a:pt x="904875" y="0"/>
                </a:lnTo>
                <a:lnTo>
                  <a:pt x="2714625" y="0"/>
                </a:lnTo>
                <a:lnTo>
                  <a:pt x="3619627" y="1567307"/>
                </a:lnTo>
                <a:close/>
              </a:path>
            </a:pathLst>
          </a:custGeom>
          <a:solidFill>
            <a:srgbClr val="004651"/>
          </a:solidFill>
          <a:ln>
            <a:noFill/>
          </a:ln>
        </p:spPr>
      </p:sp>
      <p:sp>
        <p:nvSpPr>
          <p:cNvPr id="196" name="Google Shape;196;p8"/>
          <p:cNvSpPr/>
          <p:nvPr/>
        </p:nvSpPr>
        <p:spPr>
          <a:xfrm>
            <a:off x="5146619" y="9051550"/>
            <a:ext cx="380203" cy="329258"/>
          </a:xfrm>
          <a:custGeom>
            <a:rect b="b" l="l" r="r" t="t"/>
            <a:pathLst>
              <a:path extrusionOk="0" h="3134614" w="3619627">
                <a:moveTo>
                  <a:pt x="3619627" y="1567307"/>
                </a:moveTo>
                <a:lnTo>
                  <a:pt x="2714752" y="3134614"/>
                </a:lnTo>
                <a:lnTo>
                  <a:pt x="904875" y="3134614"/>
                </a:lnTo>
                <a:lnTo>
                  <a:pt x="0" y="1567307"/>
                </a:lnTo>
                <a:lnTo>
                  <a:pt x="904875" y="0"/>
                </a:lnTo>
                <a:lnTo>
                  <a:pt x="2714625" y="0"/>
                </a:lnTo>
                <a:lnTo>
                  <a:pt x="3619627" y="1567307"/>
                </a:lnTo>
                <a:close/>
              </a:path>
            </a:pathLst>
          </a:custGeom>
          <a:solidFill>
            <a:srgbClr val="004651"/>
          </a:solidFill>
          <a:ln>
            <a:noFill/>
          </a:ln>
        </p:spPr>
      </p:sp>
      <p:sp>
        <p:nvSpPr>
          <p:cNvPr id="197" name="Google Shape;197;p8"/>
          <p:cNvSpPr/>
          <p:nvPr/>
        </p:nvSpPr>
        <p:spPr>
          <a:xfrm>
            <a:off x="9435177" y="9070600"/>
            <a:ext cx="380203" cy="329258"/>
          </a:xfrm>
          <a:custGeom>
            <a:rect b="b" l="l" r="r" t="t"/>
            <a:pathLst>
              <a:path extrusionOk="0" h="3134614" w="3619627">
                <a:moveTo>
                  <a:pt x="3619627" y="1567307"/>
                </a:moveTo>
                <a:lnTo>
                  <a:pt x="2714752" y="3134614"/>
                </a:lnTo>
                <a:lnTo>
                  <a:pt x="904875" y="3134614"/>
                </a:lnTo>
                <a:lnTo>
                  <a:pt x="0" y="1567307"/>
                </a:lnTo>
                <a:lnTo>
                  <a:pt x="904875" y="0"/>
                </a:lnTo>
                <a:lnTo>
                  <a:pt x="2714625" y="0"/>
                </a:lnTo>
                <a:lnTo>
                  <a:pt x="3619627" y="1567307"/>
                </a:lnTo>
                <a:close/>
              </a:path>
            </a:pathLst>
          </a:custGeom>
          <a:solidFill>
            <a:srgbClr val="004651"/>
          </a:solidFill>
          <a:ln>
            <a:noFill/>
          </a:ln>
        </p:spPr>
      </p:sp>
      <p:sp>
        <p:nvSpPr>
          <p:cNvPr id="198" name="Google Shape;198;p8"/>
          <p:cNvSpPr/>
          <p:nvPr/>
        </p:nvSpPr>
        <p:spPr>
          <a:xfrm>
            <a:off x="13723736" y="9051550"/>
            <a:ext cx="380203" cy="329258"/>
          </a:xfrm>
          <a:custGeom>
            <a:rect b="b" l="l" r="r" t="t"/>
            <a:pathLst>
              <a:path extrusionOk="0" h="3134614" w="3619627">
                <a:moveTo>
                  <a:pt x="3619627" y="1567307"/>
                </a:moveTo>
                <a:lnTo>
                  <a:pt x="2714752" y="3134614"/>
                </a:lnTo>
                <a:lnTo>
                  <a:pt x="904875" y="3134614"/>
                </a:lnTo>
                <a:lnTo>
                  <a:pt x="0" y="1567307"/>
                </a:lnTo>
                <a:lnTo>
                  <a:pt x="904875" y="0"/>
                </a:lnTo>
                <a:lnTo>
                  <a:pt x="2714625" y="0"/>
                </a:lnTo>
                <a:lnTo>
                  <a:pt x="3619627" y="1567307"/>
                </a:lnTo>
                <a:close/>
              </a:path>
            </a:pathLst>
          </a:custGeom>
          <a:solidFill>
            <a:srgbClr val="004651"/>
          </a:solidFill>
          <a:ln>
            <a:noFill/>
          </a:ln>
        </p:spPr>
      </p:sp>
      <p:grpSp>
        <p:nvGrpSpPr>
          <p:cNvPr id="199" name="Google Shape;199;p8"/>
          <p:cNvGrpSpPr/>
          <p:nvPr/>
        </p:nvGrpSpPr>
        <p:grpSpPr>
          <a:xfrm>
            <a:off x="1363873" y="9324775"/>
            <a:ext cx="4437517" cy="1037214"/>
            <a:chOff x="-291800" y="1489"/>
            <a:chExt cx="5916689" cy="1382952"/>
          </a:xfrm>
        </p:grpSpPr>
        <p:sp>
          <p:nvSpPr>
            <p:cNvPr id="200" name="Google Shape;200;p8"/>
            <p:cNvSpPr txBox="1"/>
            <p:nvPr/>
          </p:nvSpPr>
          <p:spPr>
            <a:xfrm>
              <a:off x="-291800" y="1489"/>
              <a:ext cx="5916689" cy="584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2428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1" lang="en-US" sz="2800" u="none" cap="none" strike="noStrike">
                  <a:solidFill>
                    <a:srgbClr val="191919"/>
                  </a:solidFill>
                  <a:latin typeface="Arial"/>
                  <a:ea typeface="Arial"/>
                  <a:cs typeface="Arial"/>
                  <a:sym typeface="Arial"/>
                </a:rPr>
                <a:t>Ghi nhận phát sinh</a:t>
              </a:r>
              <a:endParaRPr b="1" i="1" sz="28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1" name="Google Shape;201;p8"/>
            <p:cNvSpPr txBox="1"/>
            <p:nvPr/>
          </p:nvSpPr>
          <p:spPr>
            <a:xfrm>
              <a:off x="0" y="934649"/>
              <a:ext cx="4486566" cy="4497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02" name="Google Shape;202;p8"/>
          <p:cNvSpPr txBox="1"/>
          <p:nvPr/>
        </p:nvSpPr>
        <p:spPr>
          <a:xfrm>
            <a:off x="5945981" y="8738578"/>
            <a:ext cx="3121819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42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28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Tính phí tự động</a:t>
            </a:r>
            <a:endParaRPr b="1" i="1" sz="2800" u="none" cap="none" strike="noStrike">
              <a:solidFill>
                <a:srgbClr val="19191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03" name="Google Shape;203;p8"/>
          <p:cNvGrpSpPr/>
          <p:nvPr/>
        </p:nvGrpSpPr>
        <p:grpSpPr>
          <a:xfrm>
            <a:off x="9933122" y="9268942"/>
            <a:ext cx="4437517" cy="1027689"/>
            <a:chOff x="0" y="14189"/>
            <a:chExt cx="5916689" cy="1370252"/>
          </a:xfrm>
        </p:grpSpPr>
        <p:sp>
          <p:nvSpPr>
            <p:cNvPr id="204" name="Google Shape;204;p8"/>
            <p:cNvSpPr txBox="1"/>
            <p:nvPr/>
          </p:nvSpPr>
          <p:spPr>
            <a:xfrm>
              <a:off x="0" y="14189"/>
              <a:ext cx="5916689" cy="584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2428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1" lang="en-US" sz="2800" u="none" cap="none" strike="noStrike">
                  <a:solidFill>
                    <a:srgbClr val="191919"/>
                  </a:solidFill>
                  <a:latin typeface="Arial"/>
                  <a:ea typeface="Arial"/>
                  <a:cs typeface="Arial"/>
                  <a:sym typeface="Arial"/>
                </a:rPr>
                <a:t>Lập bảng kê thu tiền</a:t>
              </a:r>
              <a:endParaRPr b="1" i="1" sz="28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5" name="Google Shape;205;p8"/>
            <p:cNvSpPr txBox="1"/>
            <p:nvPr/>
          </p:nvSpPr>
          <p:spPr>
            <a:xfrm>
              <a:off x="0" y="934649"/>
              <a:ext cx="4486566" cy="4497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06" name="Google Shape;206;p8"/>
          <p:cNvGrpSpPr/>
          <p:nvPr/>
        </p:nvGrpSpPr>
        <p:grpSpPr>
          <a:xfrm>
            <a:off x="14370639" y="8797079"/>
            <a:ext cx="4437517" cy="980387"/>
            <a:chOff x="-101600" y="77259"/>
            <a:chExt cx="5916689" cy="1307182"/>
          </a:xfrm>
        </p:grpSpPr>
        <p:sp>
          <p:nvSpPr>
            <p:cNvPr id="207" name="Google Shape;207;p8"/>
            <p:cNvSpPr txBox="1"/>
            <p:nvPr/>
          </p:nvSpPr>
          <p:spPr>
            <a:xfrm>
              <a:off x="-101600" y="77259"/>
              <a:ext cx="5916689" cy="584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2428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1" lang="en-US" sz="2800" u="none" cap="none" strike="noStrike">
                  <a:solidFill>
                    <a:srgbClr val="191919"/>
                  </a:solidFill>
                  <a:latin typeface="Arial"/>
                  <a:ea typeface="Arial"/>
                  <a:cs typeface="Arial"/>
                  <a:sym typeface="Arial"/>
                </a:rPr>
                <a:t>Thu tiền &amp; đối soát</a:t>
              </a:r>
              <a:endParaRPr b="1" i="1" sz="28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8" name="Google Shape;208;p8"/>
            <p:cNvSpPr txBox="1"/>
            <p:nvPr/>
          </p:nvSpPr>
          <p:spPr>
            <a:xfrm>
              <a:off x="0" y="934649"/>
              <a:ext cx="4486566" cy="4497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09" name="Google Shape;209;p8"/>
          <p:cNvSpPr txBox="1"/>
          <p:nvPr/>
        </p:nvSpPr>
        <p:spPr>
          <a:xfrm>
            <a:off x="551126" y="476612"/>
            <a:ext cx="9748404" cy="54223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100" u="none" cap="none" strike="noStrike">
                <a:solidFill>
                  <a:srgbClr val="C8132C"/>
                </a:solidFill>
                <a:latin typeface="Arial"/>
                <a:ea typeface="Arial"/>
                <a:cs typeface="Arial"/>
                <a:sym typeface="Arial"/>
              </a:rPr>
              <a:t>4.  TRUY VẤN BẢNG KÊ CHUYỂN TIỀN</a:t>
            </a:r>
            <a:endParaRPr/>
          </a:p>
        </p:txBody>
      </p:sp>
      <p:sp>
        <p:nvSpPr>
          <p:cNvPr id="210" name="Google Shape;210;p8"/>
          <p:cNvSpPr/>
          <p:nvPr/>
        </p:nvSpPr>
        <p:spPr>
          <a:xfrm>
            <a:off x="17477112" y="-104775"/>
            <a:ext cx="810888" cy="810888"/>
          </a:xfrm>
          <a:custGeom>
            <a:rect b="b" l="l" r="r" t="t"/>
            <a:pathLst>
              <a:path extrusionOk="0" h="810888" w="810888">
                <a:moveTo>
                  <a:pt x="0" y="0"/>
                </a:moveTo>
                <a:lnTo>
                  <a:pt x="810888" y="0"/>
                </a:lnTo>
                <a:lnTo>
                  <a:pt x="810888" y="810888"/>
                </a:lnTo>
                <a:lnTo>
                  <a:pt x="0" y="81088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EFFFE"/>
        </a:solidFill>
      </p:bgPr>
    </p:bg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9"/>
          <p:cNvSpPr/>
          <p:nvPr/>
        </p:nvSpPr>
        <p:spPr>
          <a:xfrm rot="10800000">
            <a:off x="2838510" y="8554022"/>
            <a:ext cx="3480308" cy="3013963"/>
          </a:xfrm>
          <a:custGeom>
            <a:rect b="b" l="l" r="r" t="t"/>
            <a:pathLst>
              <a:path extrusionOk="0" h="3134614" w="3619627">
                <a:moveTo>
                  <a:pt x="3619627" y="1567307"/>
                </a:moveTo>
                <a:lnTo>
                  <a:pt x="2714752" y="3134614"/>
                </a:lnTo>
                <a:lnTo>
                  <a:pt x="904875" y="3134614"/>
                </a:lnTo>
                <a:lnTo>
                  <a:pt x="0" y="1567307"/>
                </a:lnTo>
                <a:lnTo>
                  <a:pt x="904875" y="0"/>
                </a:lnTo>
                <a:lnTo>
                  <a:pt x="2714625" y="0"/>
                </a:lnTo>
                <a:lnTo>
                  <a:pt x="3619627" y="1567307"/>
                </a:lnTo>
                <a:close/>
              </a:path>
            </a:pathLst>
          </a:custGeom>
          <a:solidFill>
            <a:srgbClr val="A4E473"/>
          </a:solidFill>
          <a:ln>
            <a:noFill/>
          </a:ln>
        </p:spPr>
      </p:sp>
      <p:sp>
        <p:nvSpPr>
          <p:cNvPr id="216" name="Google Shape;216;p9"/>
          <p:cNvSpPr/>
          <p:nvPr/>
        </p:nvSpPr>
        <p:spPr>
          <a:xfrm rot="10800000">
            <a:off x="-348163" y="8975769"/>
            <a:ext cx="1798578" cy="1557577"/>
          </a:xfrm>
          <a:custGeom>
            <a:rect b="b" l="l" r="r" t="t"/>
            <a:pathLst>
              <a:path extrusionOk="0" h="3134614" w="3619627">
                <a:moveTo>
                  <a:pt x="3619627" y="1567307"/>
                </a:moveTo>
                <a:lnTo>
                  <a:pt x="2714752" y="3134614"/>
                </a:lnTo>
                <a:lnTo>
                  <a:pt x="904875" y="3134614"/>
                </a:lnTo>
                <a:lnTo>
                  <a:pt x="0" y="1567307"/>
                </a:lnTo>
                <a:lnTo>
                  <a:pt x="904875" y="0"/>
                </a:lnTo>
                <a:lnTo>
                  <a:pt x="2714625" y="0"/>
                </a:lnTo>
                <a:lnTo>
                  <a:pt x="3619627" y="1567307"/>
                </a:lnTo>
                <a:close/>
              </a:path>
            </a:pathLst>
          </a:custGeom>
          <a:solidFill>
            <a:srgbClr val="00A181"/>
          </a:solidFill>
          <a:ln>
            <a:noFill/>
          </a:ln>
        </p:spPr>
      </p:sp>
      <p:sp>
        <p:nvSpPr>
          <p:cNvPr id="217" name="Google Shape;217;p9"/>
          <p:cNvSpPr/>
          <p:nvPr/>
        </p:nvSpPr>
        <p:spPr>
          <a:xfrm rot="10800000">
            <a:off x="-598306" y="2166558"/>
            <a:ext cx="3378391" cy="2925703"/>
          </a:xfrm>
          <a:custGeom>
            <a:rect b="b" l="l" r="r" t="t"/>
            <a:pathLst>
              <a:path extrusionOk="0" h="3134614" w="3619627">
                <a:moveTo>
                  <a:pt x="3619627" y="1567307"/>
                </a:moveTo>
                <a:lnTo>
                  <a:pt x="2714752" y="3134614"/>
                </a:lnTo>
                <a:lnTo>
                  <a:pt x="904875" y="3134614"/>
                </a:lnTo>
                <a:lnTo>
                  <a:pt x="0" y="1567307"/>
                </a:lnTo>
                <a:lnTo>
                  <a:pt x="904875" y="0"/>
                </a:lnTo>
                <a:lnTo>
                  <a:pt x="2714625" y="0"/>
                </a:lnTo>
                <a:lnTo>
                  <a:pt x="3619627" y="1567307"/>
                </a:lnTo>
                <a:close/>
              </a:path>
            </a:pathLst>
          </a:custGeom>
          <a:solidFill>
            <a:srgbClr val="00A181"/>
          </a:solidFill>
          <a:ln>
            <a:noFill/>
          </a:ln>
        </p:spPr>
      </p:sp>
      <p:sp>
        <p:nvSpPr>
          <p:cNvPr id="218" name="Google Shape;218;p9"/>
          <p:cNvSpPr/>
          <p:nvPr/>
        </p:nvSpPr>
        <p:spPr>
          <a:xfrm>
            <a:off x="5146992" y="1208752"/>
            <a:ext cx="12112308" cy="7767018"/>
          </a:xfrm>
          <a:custGeom>
            <a:rect b="b" l="l" r="r" t="t"/>
            <a:pathLst>
              <a:path extrusionOk="0" h="7767018" w="12112308">
                <a:moveTo>
                  <a:pt x="0" y="0"/>
                </a:moveTo>
                <a:lnTo>
                  <a:pt x="12112308" y="0"/>
                </a:lnTo>
                <a:lnTo>
                  <a:pt x="12112308" y="7767017"/>
                </a:lnTo>
                <a:lnTo>
                  <a:pt x="0" y="776701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19" name="Google Shape;219;p9"/>
          <p:cNvSpPr/>
          <p:nvPr/>
        </p:nvSpPr>
        <p:spPr>
          <a:xfrm>
            <a:off x="-598306" y="4207510"/>
            <a:ext cx="6058479" cy="5246370"/>
          </a:xfrm>
          <a:custGeom>
            <a:rect b="b" l="l" r="r" t="t"/>
            <a:pathLst>
              <a:path extrusionOk="0" h="3708400" w="4282440">
                <a:moveTo>
                  <a:pt x="3211830" y="0"/>
                </a:moveTo>
                <a:lnTo>
                  <a:pt x="1070610" y="0"/>
                </a:lnTo>
                <a:lnTo>
                  <a:pt x="0" y="1854200"/>
                </a:lnTo>
                <a:lnTo>
                  <a:pt x="1070610" y="3708400"/>
                </a:lnTo>
                <a:lnTo>
                  <a:pt x="3211830" y="3708400"/>
                </a:lnTo>
                <a:lnTo>
                  <a:pt x="4282440" y="185420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-29471" r="-502" t="0"/>
            </a:stretch>
          </a:blipFill>
          <a:ln>
            <a:noFill/>
          </a:ln>
        </p:spPr>
      </p:sp>
      <p:sp>
        <p:nvSpPr>
          <p:cNvPr id="220" name="Google Shape;220;p9"/>
          <p:cNvSpPr txBox="1"/>
          <p:nvPr/>
        </p:nvSpPr>
        <p:spPr>
          <a:xfrm>
            <a:off x="9831582" y="9201150"/>
            <a:ext cx="9748404" cy="4483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26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Màn hình truy vấn đơn hàng bán</a:t>
            </a:r>
            <a:endParaRPr/>
          </a:p>
        </p:txBody>
      </p:sp>
      <p:sp>
        <p:nvSpPr>
          <p:cNvPr id="221" name="Google Shape;221;p9"/>
          <p:cNvSpPr txBox="1"/>
          <p:nvPr/>
        </p:nvSpPr>
        <p:spPr>
          <a:xfrm>
            <a:off x="551126" y="476612"/>
            <a:ext cx="9748404" cy="54223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100" u="none" cap="none" strike="noStrike">
                <a:solidFill>
                  <a:srgbClr val="C8132C"/>
                </a:solidFill>
                <a:latin typeface="Arial"/>
                <a:ea typeface="Arial"/>
                <a:cs typeface="Arial"/>
                <a:sym typeface="Arial"/>
              </a:rPr>
              <a:t>5. ĐƠN HÀNG BÁN</a:t>
            </a:r>
            <a:endParaRPr/>
          </a:p>
        </p:txBody>
      </p:sp>
      <p:sp>
        <p:nvSpPr>
          <p:cNvPr id="222" name="Google Shape;222;p9"/>
          <p:cNvSpPr/>
          <p:nvPr/>
        </p:nvSpPr>
        <p:spPr>
          <a:xfrm>
            <a:off x="17477112" y="-104775"/>
            <a:ext cx="810888" cy="810888"/>
          </a:xfrm>
          <a:custGeom>
            <a:rect b="b" l="l" r="r" t="t"/>
            <a:pathLst>
              <a:path extrusionOk="0" h="810888" w="810888">
                <a:moveTo>
                  <a:pt x="0" y="0"/>
                </a:moveTo>
                <a:lnTo>
                  <a:pt x="810888" y="0"/>
                </a:lnTo>
                <a:lnTo>
                  <a:pt x="810888" y="810888"/>
                </a:lnTo>
                <a:lnTo>
                  <a:pt x="0" y="81088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10"/>
          <p:cNvSpPr/>
          <p:nvPr/>
        </p:nvSpPr>
        <p:spPr>
          <a:xfrm rot="10800000">
            <a:off x="16230600" y="2552700"/>
            <a:ext cx="9822161" cy="6226137"/>
          </a:xfrm>
          <a:custGeom>
            <a:rect b="b" l="l" r="r" t="t"/>
            <a:pathLst>
              <a:path extrusionOk="0" h="5372100" w="8474859">
                <a:moveTo>
                  <a:pt x="6924189" y="0"/>
                </a:moveTo>
                <a:lnTo>
                  <a:pt x="1550670" y="0"/>
                </a:lnTo>
                <a:lnTo>
                  <a:pt x="0" y="2686050"/>
                </a:lnTo>
                <a:lnTo>
                  <a:pt x="1550670" y="5372100"/>
                </a:lnTo>
                <a:lnTo>
                  <a:pt x="6924189" y="5372100"/>
                </a:lnTo>
                <a:lnTo>
                  <a:pt x="8474859" y="2686050"/>
                </a:lnTo>
                <a:lnTo>
                  <a:pt x="6924189" y="0"/>
                </a:lnTo>
                <a:close/>
              </a:path>
            </a:pathLst>
          </a:custGeom>
          <a:solidFill>
            <a:srgbClr val="004651"/>
          </a:solidFill>
          <a:ln>
            <a:noFill/>
          </a:ln>
        </p:spPr>
      </p:sp>
      <p:sp>
        <p:nvSpPr>
          <p:cNvPr id="228" name="Google Shape;228;p10"/>
          <p:cNvSpPr/>
          <p:nvPr/>
        </p:nvSpPr>
        <p:spPr>
          <a:xfrm>
            <a:off x="9959443" y="-865713"/>
            <a:ext cx="2695438" cy="2334501"/>
          </a:xfrm>
          <a:custGeom>
            <a:rect b="b" l="l" r="r" t="t"/>
            <a:pathLst>
              <a:path extrusionOk="0" h="5372100" w="6202680">
                <a:moveTo>
                  <a:pt x="4652010" y="0"/>
                </a:moveTo>
                <a:lnTo>
                  <a:pt x="1550670" y="0"/>
                </a:lnTo>
                <a:lnTo>
                  <a:pt x="0" y="2686050"/>
                </a:lnTo>
                <a:lnTo>
                  <a:pt x="1550670" y="5372100"/>
                </a:lnTo>
                <a:lnTo>
                  <a:pt x="4652010" y="5372100"/>
                </a:lnTo>
                <a:lnTo>
                  <a:pt x="6202680" y="2686050"/>
                </a:lnTo>
                <a:lnTo>
                  <a:pt x="4652010" y="0"/>
                </a:lnTo>
                <a:close/>
              </a:path>
            </a:pathLst>
          </a:custGeom>
          <a:solidFill>
            <a:srgbClr val="00A181"/>
          </a:solidFill>
          <a:ln>
            <a:noFill/>
          </a:ln>
        </p:spPr>
      </p:sp>
      <p:sp>
        <p:nvSpPr>
          <p:cNvPr id="229" name="Google Shape;229;p10"/>
          <p:cNvSpPr/>
          <p:nvPr/>
        </p:nvSpPr>
        <p:spPr>
          <a:xfrm>
            <a:off x="1644332" y="1264492"/>
            <a:ext cx="14999337" cy="7762157"/>
          </a:xfrm>
          <a:custGeom>
            <a:rect b="b" l="l" r="r" t="t"/>
            <a:pathLst>
              <a:path extrusionOk="0" h="7762157" w="14999337">
                <a:moveTo>
                  <a:pt x="0" y="0"/>
                </a:moveTo>
                <a:lnTo>
                  <a:pt x="14999336" y="0"/>
                </a:lnTo>
                <a:lnTo>
                  <a:pt x="14999336" y="7762156"/>
                </a:lnTo>
                <a:lnTo>
                  <a:pt x="0" y="776215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30" name="Google Shape;230;p10"/>
          <p:cNvSpPr txBox="1"/>
          <p:nvPr/>
        </p:nvSpPr>
        <p:spPr>
          <a:xfrm>
            <a:off x="551126" y="476612"/>
            <a:ext cx="9748404" cy="54223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100" u="none" cap="none" strike="noStrike">
                <a:solidFill>
                  <a:srgbClr val="C8132C"/>
                </a:solidFill>
                <a:latin typeface="Arial"/>
                <a:ea typeface="Arial"/>
                <a:cs typeface="Arial"/>
                <a:sym typeface="Arial"/>
              </a:rPr>
              <a:t>6. PHIẾU ĐỀ NGHỊ THU - CHI</a:t>
            </a:r>
            <a:endParaRPr/>
          </a:p>
        </p:txBody>
      </p:sp>
      <p:sp>
        <p:nvSpPr>
          <p:cNvPr id="231" name="Google Shape;231;p10"/>
          <p:cNvSpPr txBox="1"/>
          <p:nvPr/>
        </p:nvSpPr>
        <p:spPr>
          <a:xfrm>
            <a:off x="693625" y="9210675"/>
            <a:ext cx="16900750" cy="8247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Chức năng “</a:t>
            </a:r>
            <a:r>
              <a:rPr b="1" i="0" lang="en-US" sz="24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Phiếu đề nghị thu</a:t>
            </a:r>
            <a:r>
              <a:rPr b="0" i="0" lang="en-US" sz="24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” giúp người dùng </a:t>
            </a:r>
            <a:r>
              <a:rPr b="1" i="0" lang="en-US" sz="24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ghi nhận và kiểm soát chính xác các khoản tiền cần thu theo từng khách hàng/quầy thuê</a:t>
            </a:r>
            <a:r>
              <a:rPr b="0" i="0" lang="en-US" sz="24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, làm căn cứ cho nghiệp vụ thu tiền và đối soát công nợ.</a:t>
            </a:r>
            <a:endParaRPr/>
          </a:p>
        </p:txBody>
      </p:sp>
      <p:sp>
        <p:nvSpPr>
          <p:cNvPr id="232" name="Google Shape;232;p10"/>
          <p:cNvSpPr/>
          <p:nvPr/>
        </p:nvSpPr>
        <p:spPr>
          <a:xfrm>
            <a:off x="17477112" y="-104775"/>
            <a:ext cx="810888" cy="810888"/>
          </a:xfrm>
          <a:custGeom>
            <a:rect b="b" l="l" r="r" t="t"/>
            <a:pathLst>
              <a:path extrusionOk="0" h="810888" w="810888">
                <a:moveTo>
                  <a:pt x="0" y="0"/>
                </a:moveTo>
                <a:lnTo>
                  <a:pt x="810888" y="0"/>
                </a:lnTo>
                <a:lnTo>
                  <a:pt x="810888" y="810888"/>
                </a:lnTo>
                <a:lnTo>
                  <a:pt x="0" y="81088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  <p:transition spd="slow" p14:dur="800">
    <p:circle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7" name="Google Shape;237;p11"/>
          <p:cNvPicPr preferRelativeResize="0"/>
          <p:nvPr/>
        </p:nvPicPr>
        <p:blipFill rotWithShape="1">
          <a:blip r:embed="rId3">
            <a:alphaModFix/>
          </a:blip>
          <a:srcRect b="52995" l="48" r="17246" t="0"/>
          <a:stretch/>
        </p:blipFill>
        <p:spPr>
          <a:xfrm>
            <a:off x="0" y="5245930"/>
            <a:ext cx="18288000" cy="5041070"/>
          </a:xfrm>
          <a:prstGeom prst="rect">
            <a:avLst/>
          </a:prstGeom>
          <a:noFill/>
          <a:ln>
            <a:noFill/>
          </a:ln>
        </p:spPr>
      </p:pic>
      <p:sp>
        <p:nvSpPr>
          <p:cNvPr id="238" name="Google Shape;238;p11"/>
          <p:cNvSpPr txBox="1"/>
          <p:nvPr/>
        </p:nvSpPr>
        <p:spPr>
          <a:xfrm>
            <a:off x="3995707" y="3213031"/>
            <a:ext cx="13003135" cy="12892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269875" lvl="1" marL="539749" marR="0" rtl="0" algn="l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99"/>
              <a:buFont typeface="Arial"/>
              <a:buChar char="•"/>
            </a:pPr>
            <a:r>
              <a:rPr b="0" i="0" lang="en-US" sz="24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Theo dõi toàn bộ vòng đời hợp đồng từ ký kết, hiệu lực, điều chỉnh đến thanh lý</a:t>
            </a:r>
            <a:endParaRPr/>
          </a:p>
          <a:p>
            <a:pPr indent="-269875" lvl="1" marL="539749" marR="0" rtl="0" algn="l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99"/>
              <a:buFont typeface="Arial"/>
              <a:buChar char="•"/>
            </a:pPr>
            <a:r>
              <a:rPr b="0" i="0" lang="en-US" sz="24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Làm căn cứ phát sinh tính phí, thu tiền và quản lý công nợ theo từng khách hàng/quầy thuê một cách thống nhất và minh bạch.</a:t>
            </a:r>
            <a:endParaRPr/>
          </a:p>
        </p:txBody>
      </p:sp>
      <p:sp>
        <p:nvSpPr>
          <p:cNvPr id="239" name="Google Shape;239;p11"/>
          <p:cNvSpPr txBox="1"/>
          <p:nvPr/>
        </p:nvSpPr>
        <p:spPr>
          <a:xfrm>
            <a:off x="8539596" y="1965181"/>
            <a:ext cx="9748404" cy="54223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100" u="none" cap="none" strike="noStrike">
                <a:solidFill>
                  <a:srgbClr val="C8132C"/>
                </a:solidFill>
                <a:latin typeface="Arial"/>
                <a:ea typeface="Arial"/>
                <a:cs typeface="Arial"/>
                <a:sym typeface="Arial"/>
              </a:rPr>
              <a:t> 7. QUẢN LÝ HỢP ĐỒNG CHO THUÊ</a:t>
            </a:r>
            <a:endParaRPr/>
          </a:p>
        </p:txBody>
      </p:sp>
      <p:sp>
        <p:nvSpPr>
          <p:cNvPr id="240" name="Google Shape;240;p11"/>
          <p:cNvSpPr/>
          <p:nvPr/>
        </p:nvSpPr>
        <p:spPr>
          <a:xfrm rot="-8891732">
            <a:off x="-711454" y="-488070"/>
            <a:ext cx="3480308" cy="3013963"/>
          </a:xfrm>
          <a:custGeom>
            <a:rect b="b" l="l" r="r" t="t"/>
            <a:pathLst>
              <a:path extrusionOk="0" h="3134614" w="3619627">
                <a:moveTo>
                  <a:pt x="3619627" y="1567307"/>
                </a:moveTo>
                <a:lnTo>
                  <a:pt x="2714752" y="3134614"/>
                </a:lnTo>
                <a:lnTo>
                  <a:pt x="904875" y="3134614"/>
                </a:lnTo>
                <a:lnTo>
                  <a:pt x="0" y="1567307"/>
                </a:lnTo>
                <a:lnTo>
                  <a:pt x="904875" y="0"/>
                </a:lnTo>
                <a:lnTo>
                  <a:pt x="2714625" y="0"/>
                </a:lnTo>
                <a:lnTo>
                  <a:pt x="3619627" y="1567307"/>
                </a:lnTo>
                <a:close/>
              </a:path>
            </a:pathLst>
          </a:custGeom>
          <a:solidFill>
            <a:srgbClr val="A4E473"/>
          </a:solidFill>
          <a:ln>
            <a:noFill/>
          </a:ln>
        </p:spPr>
      </p:sp>
      <p:sp>
        <p:nvSpPr>
          <p:cNvPr id="241" name="Google Shape;241;p11"/>
          <p:cNvSpPr/>
          <p:nvPr/>
        </p:nvSpPr>
        <p:spPr>
          <a:xfrm rot="-9297590">
            <a:off x="679396" y="-1952873"/>
            <a:ext cx="4985461" cy="4317433"/>
          </a:xfrm>
          <a:custGeom>
            <a:rect b="b" l="l" r="r" t="t"/>
            <a:pathLst>
              <a:path extrusionOk="0" h="3134614" w="3619627">
                <a:moveTo>
                  <a:pt x="3619627" y="1567307"/>
                </a:moveTo>
                <a:lnTo>
                  <a:pt x="2714752" y="3134614"/>
                </a:lnTo>
                <a:lnTo>
                  <a:pt x="904875" y="3134614"/>
                </a:lnTo>
                <a:lnTo>
                  <a:pt x="0" y="1567307"/>
                </a:lnTo>
                <a:lnTo>
                  <a:pt x="904875" y="0"/>
                </a:lnTo>
                <a:lnTo>
                  <a:pt x="2714625" y="0"/>
                </a:lnTo>
                <a:lnTo>
                  <a:pt x="3619627" y="1567307"/>
                </a:lnTo>
                <a:close/>
              </a:path>
            </a:pathLst>
          </a:custGeom>
          <a:solidFill>
            <a:srgbClr val="004651"/>
          </a:solidFill>
          <a:ln>
            <a:noFill/>
          </a:ln>
        </p:spPr>
      </p:sp>
      <p:sp>
        <p:nvSpPr>
          <p:cNvPr id="242" name="Google Shape;242;p11"/>
          <p:cNvSpPr/>
          <p:nvPr/>
        </p:nvSpPr>
        <p:spPr>
          <a:xfrm rot="-6274362">
            <a:off x="4147317" y="-958290"/>
            <a:ext cx="3378391" cy="2925703"/>
          </a:xfrm>
          <a:custGeom>
            <a:rect b="b" l="l" r="r" t="t"/>
            <a:pathLst>
              <a:path extrusionOk="0" h="3134614" w="3619627">
                <a:moveTo>
                  <a:pt x="3619627" y="1567307"/>
                </a:moveTo>
                <a:lnTo>
                  <a:pt x="2714752" y="3134614"/>
                </a:lnTo>
                <a:lnTo>
                  <a:pt x="904875" y="3134614"/>
                </a:lnTo>
                <a:lnTo>
                  <a:pt x="0" y="1567307"/>
                </a:lnTo>
                <a:lnTo>
                  <a:pt x="904875" y="0"/>
                </a:lnTo>
                <a:lnTo>
                  <a:pt x="2714625" y="0"/>
                </a:lnTo>
                <a:lnTo>
                  <a:pt x="3619627" y="1567307"/>
                </a:lnTo>
                <a:close/>
              </a:path>
            </a:pathLst>
          </a:custGeom>
          <a:solidFill>
            <a:srgbClr val="00A181"/>
          </a:solidFill>
          <a:ln>
            <a:noFill/>
          </a:ln>
        </p:spPr>
      </p:sp>
      <p:sp>
        <p:nvSpPr>
          <p:cNvPr id="243" name="Google Shape;243;p11"/>
          <p:cNvSpPr/>
          <p:nvPr/>
        </p:nvSpPr>
        <p:spPr>
          <a:xfrm>
            <a:off x="17477112" y="-104775"/>
            <a:ext cx="810888" cy="810888"/>
          </a:xfrm>
          <a:custGeom>
            <a:rect b="b" l="l" r="r" t="t"/>
            <a:pathLst>
              <a:path extrusionOk="0" h="810888" w="810888">
                <a:moveTo>
                  <a:pt x="0" y="0"/>
                </a:moveTo>
                <a:lnTo>
                  <a:pt x="810888" y="0"/>
                </a:lnTo>
                <a:lnTo>
                  <a:pt x="810888" y="810888"/>
                </a:lnTo>
                <a:lnTo>
                  <a:pt x="0" y="81088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  <p:transition spd="slow" p14:dur="1500">
    <p:split orient="vert"/>
  </p:transition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EFFFE"/>
        </a:solidFill>
      </p:bgPr>
    </p:bg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12"/>
          <p:cNvSpPr/>
          <p:nvPr/>
        </p:nvSpPr>
        <p:spPr>
          <a:xfrm>
            <a:off x="16799111" y="2687862"/>
            <a:ext cx="2977778" cy="2578770"/>
          </a:xfrm>
          <a:custGeom>
            <a:rect b="b" l="l" r="r" t="t"/>
            <a:pathLst>
              <a:path extrusionOk="0" h="3134614" w="3619627">
                <a:moveTo>
                  <a:pt x="3619627" y="1567307"/>
                </a:moveTo>
                <a:lnTo>
                  <a:pt x="2714752" y="3134614"/>
                </a:lnTo>
                <a:lnTo>
                  <a:pt x="904875" y="3134614"/>
                </a:lnTo>
                <a:lnTo>
                  <a:pt x="0" y="1567307"/>
                </a:lnTo>
                <a:lnTo>
                  <a:pt x="904875" y="0"/>
                </a:lnTo>
                <a:lnTo>
                  <a:pt x="2714625" y="0"/>
                </a:lnTo>
                <a:lnTo>
                  <a:pt x="3619627" y="1567307"/>
                </a:lnTo>
                <a:close/>
              </a:path>
            </a:pathLst>
          </a:custGeom>
          <a:solidFill>
            <a:srgbClr val="004651"/>
          </a:solidFill>
          <a:ln>
            <a:noFill/>
          </a:ln>
        </p:spPr>
      </p:sp>
      <p:sp>
        <p:nvSpPr>
          <p:cNvPr id="249" name="Google Shape;249;p12"/>
          <p:cNvSpPr/>
          <p:nvPr/>
        </p:nvSpPr>
        <p:spPr>
          <a:xfrm>
            <a:off x="13660090" y="-135282"/>
            <a:ext cx="4201515" cy="3638531"/>
          </a:xfrm>
          <a:custGeom>
            <a:rect b="b" l="l" r="r" t="t"/>
            <a:pathLst>
              <a:path extrusionOk="0" h="3134614" w="3619627">
                <a:moveTo>
                  <a:pt x="3619627" y="1567307"/>
                </a:moveTo>
                <a:lnTo>
                  <a:pt x="2714752" y="3134614"/>
                </a:lnTo>
                <a:lnTo>
                  <a:pt x="904875" y="3134614"/>
                </a:lnTo>
                <a:lnTo>
                  <a:pt x="0" y="1567307"/>
                </a:lnTo>
                <a:lnTo>
                  <a:pt x="904875" y="0"/>
                </a:lnTo>
                <a:lnTo>
                  <a:pt x="2714625" y="0"/>
                </a:lnTo>
                <a:lnTo>
                  <a:pt x="3619627" y="1567307"/>
                </a:lnTo>
                <a:close/>
              </a:path>
            </a:pathLst>
          </a:custGeom>
          <a:solidFill>
            <a:srgbClr val="00A181"/>
          </a:solidFill>
          <a:ln>
            <a:noFill/>
          </a:ln>
        </p:spPr>
      </p:sp>
      <p:sp>
        <p:nvSpPr>
          <p:cNvPr id="250" name="Google Shape;250;p12"/>
          <p:cNvSpPr/>
          <p:nvPr/>
        </p:nvSpPr>
        <p:spPr>
          <a:xfrm>
            <a:off x="13243939" y="-956153"/>
            <a:ext cx="2481390" cy="2148895"/>
          </a:xfrm>
          <a:custGeom>
            <a:rect b="b" l="l" r="r" t="t"/>
            <a:pathLst>
              <a:path extrusionOk="0" h="3134614" w="3619627">
                <a:moveTo>
                  <a:pt x="3619627" y="1567307"/>
                </a:moveTo>
                <a:lnTo>
                  <a:pt x="2714752" y="3134614"/>
                </a:lnTo>
                <a:lnTo>
                  <a:pt x="904875" y="3134614"/>
                </a:lnTo>
                <a:lnTo>
                  <a:pt x="0" y="1567307"/>
                </a:lnTo>
                <a:lnTo>
                  <a:pt x="904875" y="0"/>
                </a:lnTo>
                <a:lnTo>
                  <a:pt x="2714625" y="0"/>
                </a:lnTo>
                <a:lnTo>
                  <a:pt x="3619627" y="1567307"/>
                </a:lnTo>
                <a:close/>
              </a:path>
            </a:pathLst>
          </a:custGeom>
          <a:solidFill>
            <a:srgbClr val="A4E473"/>
          </a:solidFill>
          <a:ln>
            <a:noFill/>
          </a:ln>
        </p:spPr>
      </p:sp>
      <p:sp>
        <p:nvSpPr>
          <p:cNvPr id="251" name="Google Shape;251;p12"/>
          <p:cNvSpPr/>
          <p:nvPr/>
        </p:nvSpPr>
        <p:spPr>
          <a:xfrm>
            <a:off x="551126" y="1513775"/>
            <a:ext cx="9305404" cy="5734455"/>
          </a:xfrm>
          <a:custGeom>
            <a:rect b="b" l="l" r="r" t="t"/>
            <a:pathLst>
              <a:path extrusionOk="0" h="5734455" w="9305404">
                <a:moveTo>
                  <a:pt x="0" y="0"/>
                </a:moveTo>
                <a:lnTo>
                  <a:pt x="9305404" y="0"/>
                </a:lnTo>
                <a:lnTo>
                  <a:pt x="9305404" y="5734456"/>
                </a:lnTo>
                <a:lnTo>
                  <a:pt x="0" y="573445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52" name="Google Shape;252;p12"/>
          <p:cNvSpPr/>
          <p:nvPr/>
        </p:nvSpPr>
        <p:spPr>
          <a:xfrm>
            <a:off x="8141768" y="3225779"/>
            <a:ext cx="9394941" cy="5742657"/>
          </a:xfrm>
          <a:custGeom>
            <a:rect b="b" l="l" r="r" t="t"/>
            <a:pathLst>
              <a:path extrusionOk="0" h="5742657" w="9394941">
                <a:moveTo>
                  <a:pt x="0" y="0"/>
                </a:moveTo>
                <a:lnTo>
                  <a:pt x="9394940" y="0"/>
                </a:lnTo>
                <a:lnTo>
                  <a:pt x="9394940" y="5742657"/>
                </a:lnTo>
                <a:lnTo>
                  <a:pt x="0" y="574265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53" name="Google Shape;253;p12"/>
          <p:cNvSpPr txBox="1"/>
          <p:nvPr/>
        </p:nvSpPr>
        <p:spPr>
          <a:xfrm>
            <a:off x="551126" y="476612"/>
            <a:ext cx="9748404" cy="54223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100" u="none" cap="none" strike="noStrike">
                <a:solidFill>
                  <a:srgbClr val="C8132C"/>
                </a:solidFill>
                <a:latin typeface="Arial"/>
                <a:ea typeface="Arial"/>
                <a:cs typeface="Arial"/>
                <a:sym typeface="Arial"/>
              </a:rPr>
              <a:t>8. BÁO CÁO CHI TIẾT TIỀN ĐIỆN, NƯỚC</a:t>
            </a:r>
            <a:endParaRPr/>
          </a:p>
        </p:txBody>
      </p:sp>
      <p:sp>
        <p:nvSpPr>
          <p:cNvPr id="254" name="Google Shape;254;p12"/>
          <p:cNvSpPr txBox="1"/>
          <p:nvPr/>
        </p:nvSpPr>
        <p:spPr>
          <a:xfrm>
            <a:off x="282978" y="7695906"/>
            <a:ext cx="7721670" cy="82473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Phần mềm </a:t>
            </a:r>
            <a:r>
              <a:rPr b="1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OMEGA.RS</a:t>
            </a:r>
            <a:r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cho phép người dùng quản lý các </a:t>
            </a:r>
            <a:r>
              <a:rPr b="1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báo cáo chi tiết về biến phí</a:t>
            </a:r>
            <a:r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(tiền điện, nước)</a:t>
            </a:r>
            <a:endParaRPr/>
          </a:p>
        </p:txBody>
      </p:sp>
      <p:sp>
        <p:nvSpPr>
          <p:cNvPr id="255" name="Google Shape;255;p12"/>
          <p:cNvSpPr/>
          <p:nvPr/>
        </p:nvSpPr>
        <p:spPr>
          <a:xfrm>
            <a:off x="17477112" y="-104775"/>
            <a:ext cx="810888" cy="810888"/>
          </a:xfrm>
          <a:custGeom>
            <a:rect b="b" l="l" r="r" t="t"/>
            <a:pathLst>
              <a:path extrusionOk="0" h="810888" w="810888">
                <a:moveTo>
                  <a:pt x="0" y="0"/>
                </a:moveTo>
                <a:lnTo>
                  <a:pt x="810888" y="0"/>
                </a:lnTo>
                <a:lnTo>
                  <a:pt x="810888" y="810888"/>
                </a:lnTo>
                <a:lnTo>
                  <a:pt x="0" y="81088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EFFFE"/>
        </a:solidFill>
      </p:bgPr>
    </p:bg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13"/>
          <p:cNvSpPr/>
          <p:nvPr/>
        </p:nvSpPr>
        <p:spPr>
          <a:xfrm rot="10800000">
            <a:off x="-2274953" y="9550825"/>
            <a:ext cx="9822161" cy="6226137"/>
          </a:xfrm>
          <a:custGeom>
            <a:rect b="b" l="l" r="r" t="t"/>
            <a:pathLst>
              <a:path extrusionOk="0" h="5372100" w="8474859">
                <a:moveTo>
                  <a:pt x="6924189" y="0"/>
                </a:moveTo>
                <a:lnTo>
                  <a:pt x="1550670" y="0"/>
                </a:lnTo>
                <a:lnTo>
                  <a:pt x="0" y="2686050"/>
                </a:lnTo>
                <a:lnTo>
                  <a:pt x="1550670" y="5372100"/>
                </a:lnTo>
                <a:lnTo>
                  <a:pt x="6924189" y="5372100"/>
                </a:lnTo>
                <a:lnTo>
                  <a:pt x="8474859" y="2686050"/>
                </a:lnTo>
                <a:lnTo>
                  <a:pt x="6924189" y="0"/>
                </a:lnTo>
                <a:close/>
              </a:path>
            </a:pathLst>
          </a:custGeom>
          <a:solidFill>
            <a:srgbClr val="03A553"/>
          </a:solidFill>
          <a:ln>
            <a:noFill/>
          </a:ln>
        </p:spPr>
      </p:sp>
      <p:sp>
        <p:nvSpPr>
          <p:cNvPr id="261" name="Google Shape;261;p13"/>
          <p:cNvSpPr/>
          <p:nvPr/>
        </p:nvSpPr>
        <p:spPr>
          <a:xfrm>
            <a:off x="12654881" y="-457589"/>
            <a:ext cx="2695438" cy="2334501"/>
          </a:xfrm>
          <a:custGeom>
            <a:rect b="b" l="l" r="r" t="t"/>
            <a:pathLst>
              <a:path extrusionOk="0" h="5372100" w="6202680">
                <a:moveTo>
                  <a:pt x="4652010" y="0"/>
                </a:moveTo>
                <a:lnTo>
                  <a:pt x="1550670" y="0"/>
                </a:lnTo>
                <a:lnTo>
                  <a:pt x="0" y="2686050"/>
                </a:lnTo>
                <a:lnTo>
                  <a:pt x="1550670" y="5372100"/>
                </a:lnTo>
                <a:lnTo>
                  <a:pt x="4652010" y="5372100"/>
                </a:lnTo>
                <a:lnTo>
                  <a:pt x="6202680" y="2686050"/>
                </a:lnTo>
                <a:lnTo>
                  <a:pt x="4652010" y="0"/>
                </a:lnTo>
                <a:close/>
              </a:path>
            </a:pathLst>
          </a:custGeom>
          <a:solidFill>
            <a:srgbClr val="00A181"/>
          </a:solidFill>
          <a:ln>
            <a:noFill/>
          </a:ln>
        </p:spPr>
      </p:sp>
      <p:sp>
        <p:nvSpPr>
          <p:cNvPr id="262" name="Google Shape;262;p13"/>
          <p:cNvSpPr/>
          <p:nvPr/>
        </p:nvSpPr>
        <p:spPr>
          <a:xfrm>
            <a:off x="661661" y="1296146"/>
            <a:ext cx="10645501" cy="6986110"/>
          </a:xfrm>
          <a:custGeom>
            <a:rect b="b" l="l" r="r" t="t"/>
            <a:pathLst>
              <a:path extrusionOk="0" h="6986110" w="10645501">
                <a:moveTo>
                  <a:pt x="0" y="0"/>
                </a:moveTo>
                <a:lnTo>
                  <a:pt x="10645501" y="0"/>
                </a:lnTo>
                <a:lnTo>
                  <a:pt x="10645501" y="6986110"/>
                </a:lnTo>
                <a:lnTo>
                  <a:pt x="0" y="698611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63" name="Google Shape;263;p13"/>
          <p:cNvSpPr/>
          <p:nvPr/>
        </p:nvSpPr>
        <p:spPr>
          <a:xfrm>
            <a:off x="7547208" y="2910850"/>
            <a:ext cx="10215346" cy="6639975"/>
          </a:xfrm>
          <a:custGeom>
            <a:rect b="b" l="l" r="r" t="t"/>
            <a:pathLst>
              <a:path extrusionOk="0" h="6639975" w="10215346">
                <a:moveTo>
                  <a:pt x="0" y="0"/>
                </a:moveTo>
                <a:lnTo>
                  <a:pt x="10215346" y="0"/>
                </a:lnTo>
                <a:lnTo>
                  <a:pt x="10215346" y="6639975"/>
                </a:lnTo>
                <a:lnTo>
                  <a:pt x="0" y="663997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64" name="Google Shape;264;p13"/>
          <p:cNvSpPr txBox="1"/>
          <p:nvPr/>
        </p:nvSpPr>
        <p:spPr>
          <a:xfrm>
            <a:off x="9139238" y="4910450"/>
            <a:ext cx="9525" cy="5422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2277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13"/>
          <p:cNvSpPr txBox="1"/>
          <p:nvPr/>
        </p:nvSpPr>
        <p:spPr>
          <a:xfrm>
            <a:off x="1888929" y="8501331"/>
            <a:ext cx="5246847" cy="46481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2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Các màn hình báo cáo chi tiết </a:t>
            </a:r>
            <a:endParaRPr/>
          </a:p>
        </p:txBody>
      </p:sp>
      <p:sp>
        <p:nvSpPr>
          <p:cNvPr id="266" name="Google Shape;266;p13"/>
          <p:cNvSpPr txBox="1"/>
          <p:nvPr/>
        </p:nvSpPr>
        <p:spPr>
          <a:xfrm>
            <a:off x="551126" y="476612"/>
            <a:ext cx="10967258" cy="54223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100" u="none" cap="none" strike="noStrike">
                <a:solidFill>
                  <a:srgbClr val="C8132C"/>
                </a:solidFill>
                <a:latin typeface="Arial"/>
                <a:ea typeface="Arial"/>
                <a:cs typeface="Arial"/>
                <a:sym typeface="Arial"/>
              </a:rPr>
              <a:t>9. BÁO CÁO, TRUY VẤN TÌNH HÌNH CHI TIẾT</a:t>
            </a:r>
            <a:endParaRPr/>
          </a:p>
        </p:txBody>
      </p:sp>
      <p:sp>
        <p:nvSpPr>
          <p:cNvPr id="267" name="Google Shape;267;p13"/>
          <p:cNvSpPr/>
          <p:nvPr/>
        </p:nvSpPr>
        <p:spPr>
          <a:xfrm>
            <a:off x="17477112" y="-104775"/>
            <a:ext cx="810888" cy="810888"/>
          </a:xfrm>
          <a:custGeom>
            <a:rect b="b" l="l" r="r" t="t"/>
            <a:pathLst>
              <a:path extrusionOk="0" h="810888" w="810888">
                <a:moveTo>
                  <a:pt x="0" y="0"/>
                </a:moveTo>
                <a:lnTo>
                  <a:pt x="810888" y="0"/>
                </a:lnTo>
                <a:lnTo>
                  <a:pt x="810888" y="810888"/>
                </a:lnTo>
                <a:lnTo>
                  <a:pt x="0" y="81088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4"/>
          <p:cNvSpPr/>
          <p:nvPr/>
        </p:nvSpPr>
        <p:spPr>
          <a:xfrm>
            <a:off x="5380611" y="7979923"/>
            <a:ext cx="4827741" cy="127007"/>
          </a:xfrm>
          <a:custGeom>
            <a:rect b="b" l="l" r="r" t="t"/>
            <a:pathLst>
              <a:path extrusionOk="0" h="408940" w="15544453">
                <a:moveTo>
                  <a:pt x="15338712" y="0"/>
                </a:moveTo>
                <a:cubicBezTo>
                  <a:pt x="15238383" y="0"/>
                  <a:pt x="15155833" y="72390"/>
                  <a:pt x="15136783" y="166370"/>
                </a:cubicBezTo>
                <a:lnTo>
                  <a:pt x="0" y="166370"/>
                </a:lnTo>
                <a:lnTo>
                  <a:pt x="0" y="242570"/>
                </a:lnTo>
                <a:lnTo>
                  <a:pt x="15138053" y="242570"/>
                </a:lnTo>
                <a:cubicBezTo>
                  <a:pt x="15155833" y="337820"/>
                  <a:pt x="15239653" y="408940"/>
                  <a:pt x="15339983" y="408940"/>
                </a:cubicBezTo>
                <a:cubicBezTo>
                  <a:pt x="15453012" y="408940"/>
                  <a:pt x="15544453" y="317500"/>
                  <a:pt x="15544453" y="204470"/>
                </a:cubicBezTo>
                <a:cubicBezTo>
                  <a:pt x="15544453" y="91440"/>
                  <a:pt x="15453012" y="0"/>
                  <a:pt x="15338712" y="0"/>
                </a:cubicBezTo>
                <a:close/>
              </a:path>
            </a:pathLst>
          </a:custGeom>
          <a:solidFill>
            <a:srgbClr val="C1FF7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p14"/>
          <p:cNvSpPr/>
          <p:nvPr/>
        </p:nvSpPr>
        <p:spPr>
          <a:xfrm>
            <a:off x="5380611" y="6517225"/>
            <a:ext cx="4827741" cy="127007"/>
          </a:xfrm>
          <a:custGeom>
            <a:rect b="b" l="l" r="r" t="t"/>
            <a:pathLst>
              <a:path extrusionOk="0" h="408940" w="15544453">
                <a:moveTo>
                  <a:pt x="15338712" y="0"/>
                </a:moveTo>
                <a:cubicBezTo>
                  <a:pt x="15238383" y="0"/>
                  <a:pt x="15155833" y="72390"/>
                  <a:pt x="15136783" y="166370"/>
                </a:cubicBezTo>
                <a:lnTo>
                  <a:pt x="0" y="166370"/>
                </a:lnTo>
                <a:lnTo>
                  <a:pt x="0" y="242570"/>
                </a:lnTo>
                <a:lnTo>
                  <a:pt x="15138053" y="242570"/>
                </a:lnTo>
                <a:cubicBezTo>
                  <a:pt x="15155833" y="337820"/>
                  <a:pt x="15239653" y="408940"/>
                  <a:pt x="15339983" y="408940"/>
                </a:cubicBezTo>
                <a:cubicBezTo>
                  <a:pt x="15453012" y="408940"/>
                  <a:pt x="15544453" y="317500"/>
                  <a:pt x="15544453" y="204470"/>
                </a:cubicBezTo>
                <a:cubicBezTo>
                  <a:pt x="15544453" y="91440"/>
                  <a:pt x="15453012" y="0"/>
                  <a:pt x="15338712" y="0"/>
                </a:cubicBezTo>
                <a:close/>
              </a:path>
            </a:pathLst>
          </a:custGeom>
          <a:solidFill>
            <a:srgbClr val="A4EA4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p14"/>
          <p:cNvSpPr/>
          <p:nvPr/>
        </p:nvSpPr>
        <p:spPr>
          <a:xfrm>
            <a:off x="5380611" y="5052110"/>
            <a:ext cx="4827741" cy="127007"/>
          </a:xfrm>
          <a:custGeom>
            <a:rect b="b" l="l" r="r" t="t"/>
            <a:pathLst>
              <a:path extrusionOk="0" h="408940" w="15544453">
                <a:moveTo>
                  <a:pt x="15338712" y="0"/>
                </a:moveTo>
                <a:cubicBezTo>
                  <a:pt x="15238383" y="0"/>
                  <a:pt x="15155833" y="72390"/>
                  <a:pt x="15136783" y="166370"/>
                </a:cubicBezTo>
                <a:lnTo>
                  <a:pt x="0" y="166370"/>
                </a:lnTo>
                <a:lnTo>
                  <a:pt x="0" y="242570"/>
                </a:lnTo>
                <a:lnTo>
                  <a:pt x="15138053" y="242570"/>
                </a:lnTo>
                <a:cubicBezTo>
                  <a:pt x="15155833" y="337820"/>
                  <a:pt x="15239653" y="408940"/>
                  <a:pt x="15339983" y="408940"/>
                </a:cubicBezTo>
                <a:cubicBezTo>
                  <a:pt x="15453012" y="408940"/>
                  <a:pt x="15544453" y="317500"/>
                  <a:pt x="15544453" y="204470"/>
                </a:cubicBezTo>
                <a:cubicBezTo>
                  <a:pt x="15544453" y="91440"/>
                  <a:pt x="15453012" y="0"/>
                  <a:pt x="15338712" y="0"/>
                </a:cubicBezTo>
                <a:close/>
              </a:path>
            </a:pathLst>
          </a:custGeom>
          <a:solidFill>
            <a:srgbClr val="57D12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14"/>
          <p:cNvSpPr/>
          <p:nvPr/>
        </p:nvSpPr>
        <p:spPr>
          <a:xfrm>
            <a:off x="5380611" y="3508885"/>
            <a:ext cx="4827741" cy="127007"/>
          </a:xfrm>
          <a:custGeom>
            <a:rect b="b" l="l" r="r" t="t"/>
            <a:pathLst>
              <a:path extrusionOk="0" h="408940" w="15544453">
                <a:moveTo>
                  <a:pt x="15338712" y="0"/>
                </a:moveTo>
                <a:cubicBezTo>
                  <a:pt x="15238383" y="0"/>
                  <a:pt x="15155833" y="72390"/>
                  <a:pt x="15136783" y="166370"/>
                </a:cubicBezTo>
                <a:lnTo>
                  <a:pt x="0" y="166370"/>
                </a:lnTo>
                <a:lnTo>
                  <a:pt x="0" y="242570"/>
                </a:lnTo>
                <a:lnTo>
                  <a:pt x="15138053" y="242570"/>
                </a:lnTo>
                <a:cubicBezTo>
                  <a:pt x="15155833" y="337820"/>
                  <a:pt x="15239653" y="408940"/>
                  <a:pt x="15339983" y="408940"/>
                </a:cubicBezTo>
                <a:cubicBezTo>
                  <a:pt x="15453012" y="408940"/>
                  <a:pt x="15544453" y="317500"/>
                  <a:pt x="15544453" y="204470"/>
                </a:cubicBezTo>
                <a:cubicBezTo>
                  <a:pt x="15544453" y="91440"/>
                  <a:pt x="15453012" y="0"/>
                  <a:pt x="15338712" y="0"/>
                </a:cubicBezTo>
                <a:close/>
              </a:path>
            </a:pathLst>
          </a:custGeom>
          <a:solidFill>
            <a:srgbClr val="00A6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14"/>
          <p:cNvSpPr/>
          <p:nvPr/>
        </p:nvSpPr>
        <p:spPr>
          <a:xfrm>
            <a:off x="1488867" y="1865958"/>
            <a:ext cx="7365091" cy="7651261"/>
          </a:xfrm>
          <a:custGeom>
            <a:rect b="b" l="l" r="r" t="t"/>
            <a:pathLst>
              <a:path extrusionOk="0" h="7651261" w="7365091">
                <a:moveTo>
                  <a:pt x="0" y="0"/>
                </a:moveTo>
                <a:lnTo>
                  <a:pt x="7365091" y="0"/>
                </a:lnTo>
                <a:lnTo>
                  <a:pt x="7365091" y="7651260"/>
                </a:lnTo>
                <a:lnTo>
                  <a:pt x="0" y="765126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13737" l="-16280" r="-15572" t="-13183"/>
            </a:stretch>
          </a:blipFill>
          <a:ln>
            <a:noFill/>
          </a:ln>
        </p:spPr>
      </p:sp>
      <p:sp>
        <p:nvSpPr>
          <p:cNvPr id="277" name="Google Shape;277;p14"/>
          <p:cNvSpPr/>
          <p:nvPr/>
        </p:nvSpPr>
        <p:spPr>
          <a:xfrm>
            <a:off x="-269759" y="-32878"/>
            <a:ext cx="4201515" cy="3797672"/>
          </a:xfrm>
          <a:custGeom>
            <a:rect b="b" l="l" r="r" t="t"/>
            <a:pathLst>
              <a:path extrusionOk="0" h="3271714" w="3619627">
                <a:moveTo>
                  <a:pt x="3619627" y="1635857"/>
                </a:moveTo>
                <a:lnTo>
                  <a:pt x="2714752" y="3271714"/>
                </a:lnTo>
                <a:lnTo>
                  <a:pt x="904875" y="3271714"/>
                </a:lnTo>
                <a:lnTo>
                  <a:pt x="0" y="1635857"/>
                </a:lnTo>
                <a:lnTo>
                  <a:pt x="904875" y="0"/>
                </a:lnTo>
                <a:lnTo>
                  <a:pt x="2714625" y="0"/>
                </a:lnTo>
                <a:lnTo>
                  <a:pt x="3619627" y="1635857"/>
                </a:lnTo>
                <a:close/>
              </a:path>
            </a:pathLst>
          </a:custGeom>
          <a:solidFill>
            <a:srgbClr val="00A181"/>
          </a:solidFill>
          <a:ln>
            <a:noFill/>
          </a:ln>
        </p:spPr>
      </p:sp>
      <p:sp>
        <p:nvSpPr>
          <p:cNvPr id="278" name="Google Shape;278;p14"/>
          <p:cNvSpPr/>
          <p:nvPr/>
        </p:nvSpPr>
        <p:spPr>
          <a:xfrm>
            <a:off x="-1757475" y="-230966"/>
            <a:ext cx="5159950" cy="4434332"/>
          </a:xfrm>
          <a:custGeom>
            <a:rect b="b" l="l" r="r" t="t"/>
            <a:pathLst>
              <a:path extrusionOk="0" h="698500" w="812800">
                <a:moveTo>
                  <a:pt x="812800" y="349250"/>
                </a:moveTo>
                <a:lnTo>
                  <a:pt x="609600" y="698500"/>
                </a:lnTo>
                <a:lnTo>
                  <a:pt x="203200" y="698500"/>
                </a:lnTo>
                <a:lnTo>
                  <a:pt x="0" y="349250"/>
                </a:lnTo>
                <a:lnTo>
                  <a:pt x="203200" y="0"/>
                </a:lnTo>
                <a:lnTo>
                  <a:pt x="609600" y="0"/>
                </a:lnTo>
                <a:lnTo>
                  <a:pt x="812800" y="34925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-52101" t="0"/>
            </a:stretch>
          </a:blipFill>
          <a:ln>
            <a:noFill/>
          </a:ln>
        </p:spPr>
      </p:sp>
      <p:sp>
        <p:nvSpPr>
          <p:cNvPr id="279" name="Google Shape;279;p14"/>
          <p:cNvSpPr txBox="1"/>
          <p:nvPr/>
        </p:nvSpPr>
        <p:spPr>
          <a:xfrm rot="957701">
            <a:off x="3995407" y="4789685"/>
            <a:ext cx="821554" cy="5781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3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30" u="none" cap="none" strike="noStrike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02</a:t>
            </a:r>
            <a:endParaRPr/>
          </a:p>
        </p:txBody>
      </p:sp>
      <p:sp>
        <p:nvSpPr>
          <p:cNvPr id="280" name="Google Shape;280;p14"/>
          <p:cNvSpPr txBox="1"/>
          <p:nvPr/>
        </p:nvSpPr>
        <p:spPr>
          <a:xfrm rot="957701">
            <a:off x="3466127" y="6329349"/>
            <a:ext cx="821554" cy="5781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3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30" u="none" cap="none" strike="noStrike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03</a:t>
            </a:r>
            <a:endParaRPr/>
          </a:p>
        </p:txBody>
      </p:sp>
      <p:sp>
        <p:nvSpPr>
          <p:cNvPr id="281" name="Google Shape;281;p14"/>
          <p:cNvSpPr txBox="1"/>
          <p:nvPr/>
        </p:nvSpPr>
        <p:spPr>
          <a:xfrm rot="957701">
            <a:off x="2936846" y="7768113"/>
            <a:ext cx="821554" cy="5781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3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30" u="none" cap="none" strike="noStrike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04</a:t>
            </a:r>
            <a:endParaRPr/>
          </a:p>
        </p:txBody>
      </p:sp>
      <p:sp>
        <p:nvSpPr>
          <p:cNvPr id="282" name="Google Shape;282;p14"/>
          <p:cNvSpPr txBox="1"/>
          <p:nvPr/>
        </p:nvSpPr>
        <p:spPr>
          <a:xfrm rot="957701">
            <a:off x="4423789" y="3321010"/>
            <a:ext cx="821554" cy="5781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3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30" u="none" cap="none" strike="noStrike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01</a:t>
            </a:r>
            <a:endParaRPr/>
          </a:p>
        </p:txBody>
      </p:sp>
      <p:sp>
        <p:nvSpPr>
          <p:cNvPr id="283" name="Google Shape;283;p14"/>
          <p:cNvSpPr txBox="1"/>
          <p:nvPr/>
        </p:nvSpPr>
        <p:spPr>
          <a:xfrm>
            <a:off x="10208352" y="3100551"/>
            <a:ext cx="7783003" cy="8960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 u="none" cap="none" strike="noStrike">
                <a:solidFill>
                  <a:srgbClr val="00A650"/>
                </a:solidFill>
                <a:latin typeface="Arial"/>
                <a:ea typeface="Arial"/>
                <a:cs typeface="Arial"/>
                <a:sym typeface="Arial"/>
              </a:rPr>
              <a:t>QUẢN LÝ TẬP TRUNG TOÀN BỘ TÀI SẢN CHO THUÊ</a:t>
            </a:r>
            <a:endParaRPr/>
          </a:p>
        </p:txBody>
      </p:sp>
      <p:sp>
        <p:nvSpPr>
          <p:cNvPr id="284" name="Google Shape;284;p14"/>
          <p:cNvSpPr txBox="1"/>
          <p:nvPr/>
        </p:nvSpPr>
        <p:spPr>
          <a:xfrm>
            <a:off x="9937880" y="4691078"/>
            <a:ext cx="7539232" cy="8960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 u="none" cap="none" strike="noStrike">
                <a:solidFill>
                  <a:srgbClr val="57D122"/>
                </a:solidFill>
                <a:latin typeface="Arial"/>
                <a:ea typeface="Arial"/>
                <a:cs typeface="Arial"/>
                <a:sym typeface="Arial"/>
              </a:rPr>
              <a:t>KIỂM SOÁT HỢP ĐỒNG &amp; CÔNG NỢ CHẶT CHẼ</a:t>
            </a:r>
            <a:endParaRPr/>
          </a:p>
        </p:txBody>
      </p:sp>
      <p:sp>
        <p:nvSpPr>
          <p:cNvPr id="285" name="Google Shape;285;p14"/>
          <p:cNvSpPr txBox="1"/>
          <p:nvPr/>
        </p:nvSpPr>
        <p:spPr>
          <a:xfrm>
            <a:off x="10449799" y="6220797"/>
            <a:ext cx="7027313" cy="43881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 u="none" cap="none" strike="noStrike">
                <a:solidFill>
                  <a:srgbClr val="92FC1B"/>
                </a:solidFill>
                <a:latin typeface="Arial"/>
                <a:ea typeface="Arial"/>
                <a:cs typeface="Arial"/>
                <a:sym typeface="Arial"/>
              </a:rPr>
              <a:t>TỰ ĐỘNG HÓA TÍNH PHÍ ĐỊNH KỲ</a:t>
            </a:r>
            <a:endParaRPr/>
          </a:p>
        </p:txBody>
      </p:sp>
      <p:sp>
        <p:nvSpPr>
          <p:cNvPr id="286" name="Google Shape;286;p14"/>
          <p:cNvSpPr txBox="1"/>
          <p:nvPr/>
        </p:nvSpPr>
        <p:spPr>
          <a:xfrm>
            <a:off x="10354549" y="7659561"/>
            <a:ext cx="7772066" cy="43881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 u="none" cap="none" strike="noStrike">
                <a:solidFill>
                  <a:srgbClr val="A4EA4B"/>
                </a:solidFill>
                <a:latin typeface="Arial"/>
                <a:ea typeface="Arial"/>
                <a:cs typeface="Arial"/>
                <a:sym typeface="Arial"/>
              </a:rPr>
              <a:t>TRUY VẾT RÕ RÀNG NGUỒN DOANH THU</a:t>
            </a:r>
            <a:endParaRPr/>
          </a:p>
        </p:txBody>
      </p:sp>
      <p:sp>
        <p:nvSpPr>
          <p:cNvPr id="287" name="Google Shape;287;p14"/>
          <p:cNvSpPr txBox="1"/>
          <p:nvPr/>
        </p:nvSpPr>
        <p:spPr>
          <a:xfrm>
            <a:off x="4857039" y="658488"/>
            <a:ext cx="12223519" cy="8064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000" u="none" cap="none" strike="noStrike">
                <a:solidFill>
                  <a:srgbClr val="ED1C24"/>
                </a:solidFill>
                <a:latin typeface="Arial"/>
                <a:ea typeface="Arial"/>
                <a:cs typeface="Arial"/>
                <a:sym typeface="Arial"/>
              </a:rPr>
              <a:t>TÍNH NĂNG NỔI BẬT CỦA OMEGA.RS</a:t>
            </a:r>
            <a:endParaRPr/>
          </a:p>
        </p:txBody>
      </p:sp>
      <p:sp>
        <p:nvSpPr>
          <p:cNvPr id="288" name="Google Shape;288;p14"/>
          <p:cNvSpPr/>
          <p:nvPr/>
        </p:nvSpPr>
        <p:spPr>
          <a:xfrm>
            <a:off x="17477112" y="-104775"/>
            <a:ext cx="810888" cy="810888"/>
          </a:xfrm>
          <a:custGeom>
            <a:rect b="b" l="l" r="r" t="t"/>
            <a:pathLst>
              <a:path extrusionOk="0" h="810888" w="810888">
                <a:moveTo>
                  <a:pt x="0" y="0"/>
                </a:moveTo>
                <a:lnTo>
                  <a:pt x="810888" y="0"/>
                </a:lnTo>
                <a:lnTo>
                  <a:pt x="810888" y="810888"/>
                </a:lnTo>
                <a:lnTo>
                  <a:pt x="0" y="81088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15"/>
          <p:cNvSpPr/>
          <p:nvPr/>
        </p:nvSpPr>
        <p:spPr>
          <a:xfrm>
            <a:off x="-1744188" y="-517425"/>
            <a:ext cx="6210236" cy="5378093"/>
          </a:xfrm>
          <a:custGeom>
            <a:rect b="b" l="l" r="r" t="t"/>
            <a:pathLst>
              <a:path extrusionOk="0" h="3134614" w="3619627">
                <a:moveTo>
                  <a:pt x="3619627" y="1567307"/>
                </a:moveTo>
                <a:lnTo>
                  <a:pt x="2714752" y="3134614"/>
                </a:lnTo>
                <a:lnTo>
                  <a:pt x="904875" y="3134614"/>
                </a:lnTo>
                <a:lnTo>
                  <a:pt x="0" y="1567307"/>
                </a:lnTo>
                <a:lnTo>
                  <a:pt x="904875" y="0"/>
                </a:lnTo>
                <a:lnTo>
                  <a:pt x="2714625" y="0"/>
                </a:lnTo>
                <a:lnTo>
                  <a:pt x="3619627" y="1567307"/>
                </a:lnTo>
                <a:close/>
              </a:path>
            </a:pathLst>
          </a:custGeom>
          <a:solidFill>
            <a:srgbClr val="00A181"/>
          </a:solidFill>
          <a:ln>
            <a:noFill/>
          </a:ln>
        </p:spPr>
      </p:sp>
      <p:sp>
        <p:nvSpPr>
          <p:cNvPr id="294" name="Google Shape;294;p15"/>
          <p:cNvSpPr/>
          <p:nvPr/>
        </p:nvSpPr>
        <p:spPr>
          <a:xfrm>
            <a:off x="3228408" y="582844"/>
            <a:ext cx="3151914" cy="2729572"/>
          </a:xfrm>
          <a:custGeom>
            <a:rect b="b" l="l" r="r" t="t"/>
            <a:pathLst>
              <a:path extrusionOk="0" h="3134614" w="3619627">
                <a:moveTo>
                  <a:pt x="3619627" y="1567307"/>
                </a:moveTo>
                <a:lnTo>
                  <a:pt x="2714752" y="3134614"/>
                </a:lnTo>
                <a:lnTo>
                  <a:pt x="904875" y="3134614"/>
                </a:lnTo>
                <a:lnTo>
                  <a:pt x="0" y="1567307"/>
                </a:lnTo>
                <a:lnTo>
                  <a:pt x="904875" y="0"/>
                </a:lnTo>
                <a:lnTo>
                  <a:pt x="2714625" y="0"/>
                </a:lnTo>
                <a:lnTo>
                  <a:pt x="3619627" y="1567307"/>
                </a:lnTo>
                <a:close/>
              </a:path>
            </a:pathLst>
          </a:custGeom>
          <a:solidFill>
            <a:srgbClr val="A4E473"/>
          </a:solidFill>
          <a:ln>
            <a:noFill/>
          </a:ln>
        </p:spPr>
      </p:sp>
      <p:graphicFrame>
        <p:nvGraphicFramePr>
          <p:cNvPr id="295" name="Google Shape;295;p15"/>
          <p:cNvGraphicFramePr/>
          <p:nvPr/>
        </p:nvGraphicFramePr>
        <p:xfrm>
          <a:off x="1028700" y="394625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{DEFBD729-81F5-4A08-8893-94AAE556583F}</a:tableStyleId>
              </a:tblPr>
              <a:tblGrid>
                <a:gridCol w="16230600"/>
              </a:tblGrid>
              <a:tr h="15090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799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Chuẩn hóa quy trình, quản lý hiệu quả trên một nền tảng duy nhất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9525">
                      <a:solidFill>
                        <a:srgbClr val="A4E47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4E47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4E47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4E47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gradFill>
                      <a:gsLst>
                        <a:gs pos="0">
                          <a:srgbClr val="00B247"/>
                        </a:gs>
                        <a:gs pos="100000">
                          <a:srgbClr val="7ED957"/>
                        </a:gs>
                      </a:gsLst>
                      <a:lin ang="0" scaled="0"/>
                    </a:gradFill>
                  </a:tcPr>
                </a:tc>
              </a:tr>
              <a:tr h="15090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799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Minh bạch doanh thu &amp; công nợ, kiểm soát dòng tiền hiệu quả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9525">
                      <a:solidFill>
                        <a:srgbClr val="A4E47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4E47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4E47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4E47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gradFill>
                      <a:gsLst>
                        <a:gs pos="0">
                          <a:srgbClr val="00B247"/>
                        </a:gs>
                        <a:gs pos="100000">
                          <a:srgbClr val="7ED957"/>
                        </a:gs>
                      </a:gsLst>
                      <a:lin ang="0" scaled="0"/>
                    </a:gradFill>
                  </a:tcPr>
                </a:tc>
              </a:tr>
              <a:tr h="15090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799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Tiết kiệm thời gian và chi phí vận hành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9525">
                      <a:solidFill>
                        <a:srgbClr val="A4E47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4E47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4E47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4E47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gradFill>
                      <a:gsLst>
                        <a:gs pos="0">
                          <a:srgbClr val="00B247"/>
                        </a:gs>
                        <a:gs pos="100000">
                          <a:srgbClr val="7ED957"/>
                        </a:gs>
                      </a:gsLst>
                      <a:lin ang="0" scaled="0"/>
                    </a:gradFill>
                  </a:tcPr>
                </a:tc>
              </a:tr>
            </a:tbl>
          </a:graphicData>
        </a:graphic>
      </p:graphicFrame>
      <p:sp>
        <p:nvSpPr>
          <p:cNvPr id="296" name="Google Shape;296;p15"/>
          <p:cNvSpPr/>
          <p:nvPr/>
        </p:nvSpPr>
        <p:spPr>
          <a:xfrm>
            <a:off x="17477112" y="-104775"/>
            <a:ext cx="810888" cy="810888"/>
          </a:xfrm>
          <a:custGeom>
            <a:rect b="b" l="l" r="r" t="t"/>
            <a:pathLst>
              <a:path extrusionOk="0" h="810888" w="810888">
                <a:moveTo>
                  <a:pt x="0" y="0"/>
                </a:moveTo>
                <a:lnTo>
                  <a:pt x="810888" y="0"/>
                </a:lnTo>
                <a:lnTo>
                  <a:pt x="810888" y="810888"/>
                </a:lnTo>
                <a:lnTo>
                  <a:pt x="0" y="81088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97" name="Google Shape;297;p15"/>
          <p:cNvSpPr/>
          <p:nvPr/>
        </p:nvSpPr>
        <p:spPr>
          <a:xfrm>
            <a:off x="14782757" y="6209773"/>
            <a:ext cx="4601823" cy="3984971"/>
          </a:xfrm>
          <a:custGeom>
            <a:rect b="b" l="l" r="r" t="t"/>
            <a:pathLst>
              <a:path extrusionOk="0" h="3708400" w="4282440">
                <a:moveTo>
                  <a:pt x="3211830" y="0"/>
                </a:moveTo>
                <a:lnTo>
                  <a:pt x="1070610" y="0"/>
                </a:lnTo>
                <a:lnTo>
                  <a:pt x="0" y="1854200"/>
                </a:lnTo>
                <a:lnTo>
                  <a:pt x="1070610" y="3708400"/>
                </a:lnTo>
                <a:lnTo>
                  <a:pt x="3211830" y="3708400"/>
                </a:lnTo>
                <a:lnTo>
                  <a:pt x="4282440" y="185420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-41154" r="-41154" t="0"/>
            </a:stretch>
          </a:blipFill>
          <a:ln>
            <a:noFill/>
          </a:ln>
        </p:spPr>
      </p:sp>
      <p:sp>
        <p:nvSpPr>
          <p:cNvPr id="298" name="Google Shape;298;p15"/>
          <p:cNvSpPr txBox="1"/>
          <p:nvPr/>
        </p:nvSpPr>
        <p:spPr>
          <a:xfrm>
            <a:off x="7941868" y="1538209"/>
            <a:ext cx="8614905" cy="1276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4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Lợi ích nổi bật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16"/>
          <p:cNvSpPr txBox="1"/>
          <p:nvPr/>
        </p:nvSpPr>
        <p:spPr>
          <a:xfrm>
            <a:off x="7337008" y="8438702"/>
            <a:ext cx="11162991" cy="4812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Dịch vụ khách hàng tận tâm - Cam kết đồng hành</a:t>
            </a:r>
            <a:endParaRPr/>
          </a:p>
        </p:txBody>
      </p:sp>
      <p:sp>
        <p:nvSpPr>
          <p:cNvPr id="304" name="Google Shape;304;p16"/>
          <p:cNvSpPr/>
          <p:nvPr/>
        </p:nvSpPr>
        <p:spPr>
          <a:xfrm rot="10800000">
            <a:off x="-4289819" y="-997968"/>
            <a:ext cx="13031070" cy="11284968"/>
          </a:xfrm>
          <a:custGeom>
            <a:rect b="b" l="l" r="r" t="t"/>
            <a:pathLst>
              <a:path extrusionOk="0" h="3134614" w="3619627">
                <a:moveTo>
                  <a:pt x="3619627" y="1567307"/>
                </a:moveTo>
                <a:lnTo>
                  <a:pt x="2714752" y="3134614"/>
                </a:lnTo>
                <a:lnTo>
                  <a:pt x="904875" y="3134614"/>
                </a:lnTo>
                <a:lnTo>
                  <a:pt x="0" y="1567307"/>
                </a:lnTo>
                <a:lnTo>
                  <a:pt x="904875" y="0"/>
                </a:lnTo>
                <a:lnTo>
                  <a:pt x="2714625" y="0"/>
                </a:lnTo>
                <a:lnTo>
                  <a:pt x="3619627" y="1567307"/>
                </a:lnTo>
                <a:close/>
              </a:path>
            </a:pathLst>
          </a:custGeom>
          <a:gradFill>
            <a:gsLst>
              <a:gs pos="0">
                <a:srgbClr val="00B247"/>
              </a:gs>
              <a:gs pos="100000">
                <a:srgbClr val="7ED957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</p:sp>
      <p:sp>
        <p:nvSpPr>
          <p:cNvPr id="305" name="Google Shape;305;p16"/>
          <p:cNvSpPr/>
          <p:nvPr/>
        </p:nvSpPr>
        <p:spPr>
          <a:xfrm>
            <a:off x="6309118" y="5342106"/>
            <a:ext cx="2055780" cy="1734521"/>
          </a:xfrm>
          <a:custGeom>
            <a:rect b="b" l="l" r="r" t="t"/>
            <a:pathLst>
              <a:path extrusionOk="0" h="3134614" w="3715192">
                <a:moveTo>
                  <a:pt x="3715192" y="1567307"/>
                </a:moveTo>
                <a:lnTo>
                  <a:pt x="2810317" y="3134614"/>
                </a:lnTo>
                <a:lnTo>
                  <a:pt x="904875" y="3134614"/>
                </a:lnTo>
                <a:lnTo>
                  <a:pt x="0" y="1567307"/>
                </a:lnTo>
                <a:lnTo>
                  <a:pt x="904875" y="0"/>
                </a:lnTo>
                <a:lnTo>
                  <a:pt x="2810190" y="0"/>
                </a:lnTo>
                <a:lnTo>
                  <a:pt x="3715192" y="1567307"/>
                </a:lnTo>
                <a:close/>
              </a:path>
            </a:pathLst>
          </a:custGeom>
          <a:solidFill>
            <a:srgbClr val="57D122"/>
          </a:solidFill>
          <a:ln>
            <a:noFill/>
          </a:ln>
        </p:spPr>
      </p:sp>
      <p:sp>
        <p:nvSpPr>
          <p:cNvPr id="306" name="Google Shape;306;p16"/>
          <p:cNvSpPr/>
          <p:nvPr/>
        </p:nvSpPr>
        <p:spPr>
          <a:xfrm>
            <a:off x="438244" y="4098796"/>
            <a:ext cx="5169291" cy="4476373"/>
          </a:xfrm>
          <a:custGeom>
            <a:rect b="b" l="l" r="r" t="t"/>
            <a:pathLst>
              <a:path extrusionOk="0" h="3708400" w="4282440">
                <a:moveTo>
                  <a:pt x="3211830" y="0"/>
                </a:moveTo>
                <a:lnTo>
                  <a:pt x="1070610" y="0"/>
                </a:lnTo>
                <a:lnTo>
                  <a:pt x="0" y="1854200"/>
                </a:lnTo>
                <a:lnTo>
                  <a:pt x="1070610" y="3708400"/>
                </a:lnTo>
                <a:lnTo>
                  <a:pt x="3211830" y="3708400"/>
                </a:lnTo>
                <a:lnTo>
                  <a:pt x="4282440" y="185420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1255" l="0" r="0" t="-1255"/>
            </a:stretch>
          </a:blipFill>
          <a:ln>
            <a:noFill/>
          </a:ln>
        </p:spPr>
      </p:sp>
      <p:sp>
        <p:nvSpPr>
          <p:cNvPr id="307" name="Google Shape;307;p16"/>
          <p:cNvSpPr/>
          <p:nvPr/>
        </p:nvSpPr>
        <p:spPr>
          <a:xfrm>
            <a:off x="4935536" y="7752255"/>
            <a:ext cx="2055780" cy="1780315"/>
          </a:xfrm>
          <a:custGeom>
            <a:rect b="b" l="l" r="r" t="t"/>
            <a:pathLst>
              <a:path extrusionOk="0" h="3134614" w="3619627">
                <a:moveTo>
                  <a:pt x="3619627" y="1567307"/>
                </a:moveTo>
                <a:lnTo>
                  <a:pt x="2714752" y="3134614"/>
                </a:lnTo>
                <a:lnTo>
                  <a:pt x="904875" y="3134614"/>
                </a:lnTo>
                <a:lnTo>
                  <a:pt x="0" y="1567307"/>
                </a:lnTo>
                <a:lnTo>
                  <a:pt x="904875" y="0"/>
                </a:lnTo>
                <a:lnTo>
                  <a:pt x="2714625" y="0"/>
                </a:lnTo>
                <a:lnTo>
                  <a:pt x="3619627" y="1567307"/>
                </a:lnTo>
                <a:close/>
              </a:path>
            </a:pathLst>
          </a:custGeom>
          <a:solidFill>
            <a:srgbClr val="03A553"/>
          </a:solidFill>
          <a:ln>
            <a:noFill/>
          </a:ln>
        </p:spPr>
      </p:sp>
      <p:sp>
        <p:nvSpPr>
          <p:cNvPr id="308" name="Google Shape;308;p16"/>
          <p:cNvSpPr/>
          <p:nvPr/>
        </p:nvSpPr>
        <p:spPr>
          <a:xfrm>
            <a:off x="5644398" y="-553492"/>
            <a:ext cx="4844232" cy="4194887"/>
          </a:xfrm>
          <a:custGeom>
            <a:rect b="b" l="l" r="r" t="t"/>
            <a:pathLst>
              <a:path extrusionOk="0" h="3708400" w="4282440">
                <a:moveTo>
                  <a:pt x="3211830" y="0"/>
                </a:moveTo>
                <a:lnTo>
                  <a:pt x="1070610" y="0"/>
                </a:lnTo>
                <a:lnTo>
                  <a:pt x="0" y="1854200"/>
                </a:lnTo>
                <a:lnTo>
                  <a:pt x="1070610" y="3708400"/>
                </a:lnTo>
                <a:lnTo>
                  <a:pt x="3211830" y="3708400"/>
                </a:lnTo>
                <a:lnTo>
                  <a:pt x="4282440" y="185420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-26973" r="-26973" t="0"/>
            </a:stretch>
          </a:blipFill>
          <a:ln>
            <a:noFill/>
          </a:ln>
        </p:spPr>
      </p:sp>
      <p:sp>
        <p:nvSpPr>
          <p:cNvPr id="309" name="Google Shape;309;p16"/>
          <p:cNvSpPr/>
          <p:nvPr/>
        </p:nvSpPr>
        <p:spPr>
          <a:xfrm>
            <a:off x="7745443" y="2999277"/>
            <a:ext cx="1925163" cy="1667201"/>
          </a:xfrm>
          <a:custGeom>
            <a:rect b="b" l="l" r="r" t="t"/>
            <a:pathLst>
              <a:path extrusionOk="0" h="3134614" w="3619627">
                <a:moveTo>
                  <a:pt x="3619627" y="1567307"/>
                </a:moveTo>
                <a:lnTo>
                  <a:pt x="2714752" y="3134614"/>
                </a:lnTo>
                <a:lnTo>
                  <a:pt x="904875" y="3134614"/>
                </a:lnTo>
                <a:lnTo>
                  <a:pt x="0" y="1567307"/>
                </a:lnTo>
                <a:lnTo>
                  <a:pt x="904875" y="0"/>
                </a:lnTo>
                <a:lnTo>
                  <a:pt x="2714625" y="0"/>
                </a:lnTo>
                <a:lnTo>
                  <a:pt x="3619627" y="1567307"/>
                </a:lnTo>
                <a:close/>
              </a:path>
            </a:pathLst>
          </a:custGeom>
          <a:solidFill>
            <a:srgbClr val="7EE352"/>
          </a:solidFill>
          <a:ln>
            <a:noFill/>
          </a:ln>
        </p:spPr>
      </p:sp>
      <p:sp>
        <p:nvSpPr>
          <p:cNvPr id="310" name="Google Shape;310;p16"/>
          <p:cNvSpPr/>
          <p:nvPr/>
        </p:nvSpPr>
        <p:spPr>
          <a:xfrm>
            <a:off x="8927340" y="423762"/>
            <a:ext cx="1925163" cy="1667201"/>
          </a:xfrm>
          <a:custGeom>
            <a:rect b="b" l="l" r="r" t="t"/>
            <a:pathLst>
              <a:path extrusionOk="0" h="3134614" w="3619627">
                <a:moveTo>
                  <a:pt x="3619627" y="1567307"/>
                </a:moveTo>
                <a:lnTo>
                  <a:pt x="2714752" y="3134614"/>
                </a:lnTo>
                <a:lnTo>
                  <a:pt x="904875" y="3134614"/>
                </a:lnTo>
                <a:lnTo>
                  <a:pt x="0" y="1567307"/>
                </a:lnTo>
                <a:lnTo>
                  <a:pt x="904875" y="0"/>
                </a:lnTo>
                <a:lnTo>
                  <a:pt x="2714625" y="0"/>
                </a:lnTo>
                <a:lnTo>
                  <a:pt x="3619627" y="1567307"/>
                </a:lnTo>
                <a:close/>
              </a:path>
            </a:pathLst>
          </a:custGeom>
          <a:solidFill>
            <a:srgbClr val="ADFC54"/>
          </a:solidFill>
          <a:ln>
            <a:noFill/>
          </a:ln>
        </p:spPr>
      </p:sp>
      <p:sp>
        <p:nvSpPr>
          <p:cNvPr id="311" name="Google Shape;311;p16"/>
          <p:cNvSpPr txBox="1"/>
          <p:nvPr/>
        </p:nvSpPr>
        <p:spPr>
          <a:xfrm>
            <a:off x="11213524" y="939470"/>
            <a:ext cx="6425838" cy="4812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Quản trị toàn diện - Kết nối đồng bộ</a:t>
            </a:r>
            <a:endParaRPr/>
          </a:p>
        </p:txBody>
      </p:sp>
      <p:sp>
        <p:nvSpPr>
          <p:cNvPr id="312" name="Google Shape;312;p16"/>
          <p:cNvSpPr txBox="1"/>
          <p:nvPr/>
        </p:nvSpPr>
        <p:spPr>
          <a:xfrm>
            <a:off x="8741251" y="5940143"/>
            <a:ext cx="6361744" cy="4812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Tùy chỉnh theo đặc thù doanh nghiệp</a:t>
            </a:r>
            <a:endParaRPr/>
          </a:p>
        </p:txBody>
      </p:sp>
      <p:sp>
        <p:nvSpPr>
          <p:cNvPr id="313" name="Google Shape;313;p16"/>
          <p:cNvSpPr txBox="1"/>
          <p:nvPr/>
        </p:nvSpPr>
        <p:spPr>
          <a:xfrm>
            <a:off x="496233" y="939470"/>
            <a:ext cx="5467193" cy="270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499" u="none" cap="none" strike="noStrike">
                <a:solidFill>
                  <a:srgbClr val="F4F4F4"/>
                </a:solidFill>
                <a:latin typeface="Arial"/>
                <a:ea typeface="Arial"/>
                <a:cs typeface="Arial"/>
                <a:sym typeface="Arial"/>
              </a:rPr>
              <a:t>Giá trị khác biệt của OMEGA.RS là gì?</a:t>
            </a:r>
            <a:endParaRPr/>
          </a:p>
        </p:txBody>
      </p:sp>
      <p:sp>
        <p:nvSpPr>
          <p:cNvPr id="314" name="Google Shape;314;p16"/>
          <p:cNvSpPr txBox="1"/>
          <p:nvPr/>
        </p:nvSpPr>
        <p:spPr>
          <a:xfrm>
            <a:off x="10004222" y="3584245"/>
            <a:ext cx="6361744" cy="4812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Nghiệp vụ chặt chẽ, dễ sử dụng</a:t>
            </a:r>
            <a:endParaRPr/>
          </a:p>
        </p:txBody>
      </p:sp>
      <p:sp>
        <p:nvSpPr>
          <p:cNvPr id="315" name="Google Shape;315;p16"/>
          <p:cNvSpPr/>
          <p:nvPr/>
        </p:nvSpPr>
        <p:spPr>
          <a:xfrm>
            <a:off x="17477112" y="-104775"/>
            <a:ext cx="810888" cy="810888"/>
          </a:xfrm>
          <a:custGeom>
            <a:rect b="b" l="l" r="r" t="t"/>
            <a:pathLst>
              <a:path extrusionOk="0" h="810888" w="810888">
                <a:moveTo>
                  <a:pt x="0" y="0"/>
                </a:moveTo>
                <a:lnTo>
                  <a:pt x="810888" y="0"/>
                </a:lnTo>
                <a:lnTo>
                  <a:pt x="810888" y="810888"/>
                </a:lnTo>
                <a:lnTo>
                  <a:pt x="0" y="81088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17"/>
          <p:cNvSpPr/>
          <p:nvPr/>
        </p:nvSpPr>
        <p:spPr>
          <a:xfrm flipH="1"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-55" r="-55" t="0"/>
            </a:stretch>
          </a:blipFill>
          <a:ln>
            <a:noFill/>
          </a:ln>
        </p:spPr>
      </p:sp>
      <p:grpSp>
        <p:nvGrpSpPr>
          <p:cNvPr id="321" name="Google Shape;321;p17"/>
          <p:cNvGrpSpPr/>
          <p:nvPr/>
        </p:nvGrpSpPr>
        <p:grpSpPr>
          <a:xfrm>
            <a:off x="0" y="-174237"/>
            <a:ext cx="18288000" cy="10635473"/>
            <a:chOff x="0" y="0"/>
            <a:chExt cx="4816593" cy="2801112"/>
          </a:xfrm>
        </p:grpSpPr>
        <p:sp>
          <p:nvSpPr>
            <p:cNvPr id="322" name="Google Shape;322;p17"/>
            <p:cNvSpPr/>
            <p:nvPr/>
          </p:nvSpPr>
          <p:spPr>
            <a:xfrm>
              <a:off x="0" y="0"/>
              <a:ext cx="4816592" cy="2801112"/>
            </a:xfrm>
            <a:custGeom>
              <a:rect b="b" l="l" r="r" t="t"/>
              <a:pathLst>
                <a:path extrusionOk="0" h="2801112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801112"/>
                  </a:lnTo>
                  <a:lnTo>
                    <a:pt x="0" y="2801112"/>
                  </a:lnTo>
                  <a:close/>
                </a:path>
              </a:pathLst>
            </a:custGeom>
            <a:gradFill>
              <a:gsLst>
                <a:gs pos="0">
                  <a:srgbClr val="FFFFFF">
                    <a:alpha val="0"/>
                  </a:srgbClr>
                </a:gs>
                <a:gs pos="100000">
                  <a:srgbClr val="FFFFFF">
                    <a:alpha val="83529"/>
                  </a:srgbClr>
                </a:gs>
              </a:gsLst>
              <a:path path="circle">
                <a:fillToRect b="100%" l="0%" r="100%" t="0%"/>
              </a:path>
              <a:tileRect b="0%" l="-100%" r="0%" t="-100%"/>
            </a:gradFill>
            <a:ln>
              <a:noFill/>
            </a:ln>
          </p:spPr>
        </p:sp>
        <p:sp>
          <p:nvSpPr>
            <p:cNvPr id="323" name="Google Shape;323;p17"/>
            <p:cNvSpPr txBox="1"/>
            <p:nvPr/>
          </p:nvSpPr>
          <p:spPr>
            <a:xfrm>
              <a:off x="0" y="0"/>
              <a:ext cx="4816593" cy="28011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7216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24" name="Google Shape;324;p17"/>
          <p:cNvSpPr/>
          <p:nvPr/>
        </p:nvSpPr>
        <p:spPr>
          <a:xfrm>
            <a:off x="15488388" y="8515817"/>
            <a:ext cx="1600333" cy="630131"/>
          </a:xfrm>
          <a:custGeom>
            <a:rect b="b" l="l" r="r" t="t"/>
            <a:pathLst>
              <a:path extrusionOk="0" h="630131" w="1600333">
                <a:moveTo>
                  <a:pt x="0" y="0"/>
                </a:moveTo>
                <a:lnTo>
                  <a:pt x="1600334" y="0"/>
                </a:lnTo>
                <a:lnTo>
                  <a:pt x="1600334" y="630131"/>
                </a:lnTo>
                <a:lnTo>
                  <a:pt x="0" y="63013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325" name="Google Shape;325;p17"/>
          <p:cNvGrpSpPr/>
          <p:nvPr/>
        </p:nvGrpSpPr>
        <p:grpSpPr>
          <a:xfrm rot="10800000">
            <a:off x="0" y="-348473"/>
            <a:ext cx="18288000" cy="10635473"/>
            <a:chOff x="0" y="0"/>
            <a:chExt cx="4816593" cy="2801112"/>
          </a:xfrm>
        </p:grpSpPr>
        <p:sp>
          <p:nvSpPr>
            <p:cNvPr id="326" name="Google Shape;326;p17"/>
            <p:cNvSpPr/>
            <p:nvPr/>
          </p:nvSpPr>
          <p:spPr>
            <a:xfrm>
              <a:off x="0" y="0"/>
              <a:ext cx="4816592" cy="2801112"/>
            </a:xfrm>
            <a:custGeom>
              <a:rect b="b" l="l" r="r" t="t"/>
              <a:pathLst>
                <a:path extrusionOk="0" h="2801112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801112"/>
                  </a:lnTo>
                  <a:lnTo>
                    <a:pt x="0" y="2801112"/>
                  </a:lnTo>
                  <a:close/>
                </a:path>
              </a:pathLst>
            </a:custGeom>
            <a:gradFill>
              <a:gsLst>
                <a:gs pos="0">
                  <a:srgbClr val="FFFFFF">
                    <a:alpha val="0"/>
                  </a:srgbClr>
                </a:gs>
                <a:gs pos="100000">
                  <a:srgbClr val="FFFFFF">
                    <a:alpha val="83529"/>
                  </a:srgbClr>
                </a:gs>
              </a:gsLst>
              <a:path path="circle">
                <a:fillToRect b="100%" l="0%" r="100%" t="0%"/>
              </a:path>
              <a:tileRect b="0%" l="-100%" r="0%" t="-100%"/>
            </a:gradFill>
            <a:ln>
              <a:noFill/>
            </a:ln>
          </p:spPr>
        </p:sp>
        <p:sp>
          <p:nvSpPr>
            <p:cNvPr id="327" name="Google Shape;327;p17"/>
            <p:cNvSpPr txBox="1"/>
            <p:nvPr/>
          </p:nvSpPr>
          <p:spPr>
            <a:xfrm>
              <a:off x="0" y="0"/>
              <a:ext cx="4816593" cy="28011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7216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28" name="Google Shape;328;p17"/>
          <p:cNvGrpSpPr/>
          <p:nvPr/>
        </p:nvGrpSpPr>
        <p:grpSpPr>
          <a:xfrm>
            <a:off x="9991591" y="-144887"/>
            <a:ext cx="6412874" cy="10635473"/>
            <a:chOff x="0" y="0"/>
            <a:chExt cx="1688987" cy="2801112"/>
          </a:xfrm>
        </p:grpSpPr>
        <p:sp>
          <p:nvSpPr>
            <p:cNvPr id="329" name="Google Shape;329;p17"/>
            <p:cNvSpPr/>
            <p:nvPr/>
          </p:nvSpPr>
          <p:spPr>
            <a:xfrm>
              <a:off x="0" y="0"/>
              <a:ext cx="1688987" cy="2801112"/>
            </a:xfrm>
            <a:custGeom>
              <a:rect b="b" l="l" r="r" t="t"/>
              <a:pathLst>
                <a:path extrusionOk="0" h="2801112" w="1688987">
                  <a:moveTo>
                    <a:pt x="0" y="0"/>
                  </a:moveTo>
                  <a:lnTo>
                    <a:pt x="1688987" y="0"/>
                  </a:lnTo>
                  <a:lnTo>
                    <a:pt x="1688987" y="2801112"/>
                  </a:lnTo>
                  <a:lnTo>
                    <a:pt x="0" y="2801112"/>
                  </a:lnTo>
                  <a:close/>
                </a:path>
              </a:pathLst>
            </a:custGeom>
            <a:gradFill>
              <a:gsLst>
                <a:gs pos="0">
                  <a:srgbClr val="00B247"/>
                </a:gs>
                <a:gs pos="100000">
                  <a:srgbClr val="7ED957"/>
                </a:gs>
              </a:gsLst>
              <a:lin ang="0" scaled="0"/>
            </a:gradFill>
            <a:ln>
              <a:noFill/>
            </a:ln>
          </p:spPr>
        </p:sp>
        <p:sp>
          <p:nvSpPr>
            <p:cNvPr id="330" name="Google Shape;330;p17"/>
            <p:cNvSpPr txBox="1"/>
            <p:nvPr/>
          </p:nvSpPr>
          <p:spPr>
            <a:xfrm>
              <a:off x="0" y="0"/>
              <a:ext cx="1688987" cy="28011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7216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31" name="Google Shape;331;p17"/>
          <p:cNvSpPr/>
          <p:nvPr/>
        </p:nvSpPr>
        <p:spPr>
          <a:xfrm flipH="1" rot="-6577107">
            <a:off x="2763854" y="3676822"/>
            <a:ext cx="3044294" cy="2584882"/>
          </a:xfrm>
          <a:custGeom>
            <a:rect b="b" l="l" r="r" t="t"/>
            <a:pathLst>
              <a:path extrusionOk="0" h="2584882" w="3044294">
                <a:moveTo>
                  <a:pt x="0" y="2584883"/>
                </a:moveTo>
                <a:lnTo>
                  <a:pt x="3044294" y="2584883"/>
                </a:lnTo>
                <a:lnTo>
                  <a:pt x="3044294" y="0"/>
                </a:lnTo>
                <a:lnTo>
                  <a:pt x="0" y="0"/>
                </a:lnTo>
                <a:lnTo>
                  <a:pt x="0" y="2584883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32" name="Google Shape;332;p17"/>
          <p:cNvSpPr/>
          <p:nvPr/>
        </p:nvSpPr>
        <p:spPr>
          <a:xfrm>
            <a:off x="9347138" y="5143500"/>
            <a:ext cx="7701780" cy="4332251"/>
          </a:xfrm>
          <a:custGeom>
            <a:rect b="b" l="l" r="r" t="t"/>
            <a:pathLst>
              <a:path extrusionOk="0" h="4332251" w="7701780">
                <a:moveTo>
                  <a:pt x="0" y="0"/>
                </a:moveTo>
                <a:lnTo>
                  <a:pt x="7701780" y="0"/>
                </a:lnTo>
                <a:lnTo>
                  <a:pt x="7701780" y="4332251"/>
                </a:lnTo>
                <a:lnTo>
                  <a:pt x="0" y="433225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33" name="Google Shape;333;p17"/>
          <p:cNvSpPr txBox="1"/>
          <p:nvPr/>
        </p:nvSpPr>
        <p:spPr>
          <a:xfrm>
            <a:off x="1333610" y="7142880"/>
            <a:ext cx="7048464" cy="13729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00" u="none" cap="none" strike="noStrike">
                <a:solidFill>
                  <a:srgbClr val="00A650"/>
                </a:solidFill>
                <a:latin typeface="Arial"/>
                <a:ea typeface="Arial"/>
                <a:cs typeface="Arial"/>
                <a:sym typeface="Arial"/>
              </a:rPr>
              <a:t>FREE DEMO</a:t>
            </a:r>
            <a:endParaRPr/>
          </a:p>
        </p:txBody>
      </p:sp>
      <p:sp>
        <p:nvSpPr>
          <p:cNvPr id="334" name="Google Shape;334;p17"/>
          <p:cNvSpPr txBox="1"/>
          <p:nvPr/>
        </p:nvSpPr>
        <p:spPr>
          <a:xfrm>
            <a:off x="9991591" y="971550"/>
            <a:ext cx="6425838" cy="34528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02260" lvl="1" marL="604519" marR="0" rtl="0" algn="l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99"/>
              <a:buFont typeface="Arial"/>
              <a:buChar char="•"/>
            </a:pPr>
            <a:r>
              <a:rPr b="0" i="0" lang="en-US" sz="279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Tư vấn giải pháp phù hợp với quy mô &amp; mô hình cho thuê</a:t>
            </a:r>
            <a:endParaRPr/>
          </a:p>
          <a:p>
            <a:pPr indent="0" lvl="0" marL="0" marR="0" rtl="0" algn="l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799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2260" lvl="1" marL="604519" marR="0" rtl="0" algn="l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99"/>
              <a:buFont typeface="Arial"/>
              <a:buChar char="•"/>
            </a:pPr>
            <a:r>
              <a:rPr b="0" i="0" lang="en-US" sz="279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Giải đáp chi tiết các bài toán nghiệp vụ, quản lý vận hành</a:t>
            </a:r>
            <a:endParaRPr/>
          </a:p>
          <a:p>
            <a:pPr indent="0" lvl="0" marL="0" marR="0" rtl="0" algn="l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799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2260" lvl="1" marL="604519" marR="0" rtl="0" algn="l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99"/>
              <a:buFont typeface="Arial"/>
              <a:buChar char="•"/>
            </a:pPr>
            <a:r>
              <a:rPr b="0" i="0" lang="en-US" sz="279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Demo trực tiếp theo dữ liệu thực tế</a:t>
            </a:r>
            <a:endParaRPr/>
          </a:p>
        </p:txBody>
      </p:sp>
      <p:sp>
        <p:nvSpPr>
          <p:cNvPr id="335" name="Google Shape;335;p17"/>
          <p:cNvSpPr txBox="1"/>
          <p:nvPr/>
        </p:nvSpPr>
        <p:spPr>
          <a:xfrm>
            <a:off x="1481435" y="952500"/>
            <a:ext cx="6752813" cy="15619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Để biết thêm thông tin chi tiết về phần mềm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18"/>
          <p:cNvSpPr/>
          <p:nvPr/>
        </p:nvSpPr>
        <p:spPr>
          <a:xfrm>
            <a:off x="9643655" y="-6580011"/>
            <a:ext cx="12985464" cy="11297459"/>
          </a:xfrm>
          <a:custGeom>
            <a:rect b="b" l="l" r="r" t="t"/>
            <a:pathLst>
              <a:path extrusionOk="0" h="11297459" w="12985464">
                <a:moveTo>
                  <a:pt x="0" y="0"/>
                </a:moveTo>
                <a:lnTo>
                  <a:pt x="12985464" y="0"/>
                </a:lnTo>
                <a:lnTo>
                  <a:pt x="12985464" y="11297459"/>
                </a:lnTo>
                <a:lnTo>
                  <a:pt x="0" y="1129745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341" name="Google Shape;341;p18"/>
          <p:cNvGrpSpPr/>
          <p:nvPr/>
        </p:nvGrpSpPr>
        <p:grpSpPr>
          <a:xfrm>
            <a:off x="9889902" y="-6931251"/>
            <a:ext cx="12492969" cy="11414330"/>
            <a:chOff x="0" y="-38100"/>
            <a:chExt cx="812800" cy="742623"/>
          </a:xfrm>
        </p:grpSpPr>
        <p:sp>
          <p:nvSpPr>
            <p:cNvPr id="342" name="Google Shape;342;p18"/>
            <p:cNvSpPr/>
            <p:nvPr/>
          </p:nvSpPr>
          <p:spPr>
            <a:xfrm>
              <a:off x="0" y="0"/>
              <a:ext cx="812800" cy="704523"/>
            </a:xfrm>
            <a:custGeom>
              <a:rect b="b" l="l" r="r" t="t"/>
              <a:pathLst>
                <a:path extrusionOk="0" h="704523" w="812800">
                  <a:moveTo>
                    <a:pt x="812800" y="352262"/>
                  </a:moveTo>
                  <a:lnTo>
                    <a:pt x="609600" y="704523"/>
                  </a:lnTo>
                  <a:lnTo>
                    <a:pt x="203200" y="704523"/>
                  </a:lnTo>
                  <a:lnTo>
                    <a:pt x="0" y="352262"/>
                  </a:lnTo>
                  <a:lnTo>
                    <a:pt x="203200" y="0"/>
                  </a:lnTo>
                  <a:lnTo>
                    <a:pt x="609600" y="0"/>
                  </a:lnTo>
                  <a:lnTo>
                    <a:pt x="812800" y="352262"/>
                  </a:lnTo>
                  <a:close/>
                </a:path>
              </a:pathLst>
            </a:custGeom>
            <a:gradFill>
              <a:gsLst>
                <a:gs pos="0">
                  <a:srgbClr val="00B247"/>
                </a:gs>
                <a:gs pos="100000">
                  <a:srgbClr val="7ED957"/>
                </a:gs>
              </a:gsLst>
              <a:lin ang="5400000" scaled="0"/>
            </a:gradFill>
            <a:ln>
              <a:noFill/>
            </a:ln>
          </p:spPr>
        </p:sp>
        <p:sp>
          <p:nvSpPr>
            <p:cNvPr id="343" name="Google Shape;343;p18"/>
            <p:cNvSpPr txBox="1"/>
            <p:nvPr/>
          </p:nvSpPr>
          <p:spPr>
            <a:xfrm>
              <a:off x="114300" y="-38100"/>
              <a:ext cx="584200" cy="74262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44" name="Google Shape;344;p18"/>
          <p:cNvSpPr/>
          <p:nvPr/>
        </p:nvSpPr>
        <p:spPr>
          <a:xfrm rot="5400000">
            <a:off x="13087093" y="-1005641"/>
            <a:ext cx="7379804" cy="6789420"/>
          </a:xfrm>
          <a:custGeom>
            <a:rect b="b" l="l" r="r" t="t"/>
            <a:pathLst>
              <a:path extrusionOk="0" h="6789420" w="7379804">
                <a:moveTo>
                  <a:pt x="7379804" y="6789420"/>
                </a:moveTo>
                <a:lnTo>
                  <a:pt x="0" y="6789420"/>
                </a:lnTo>
                <a:lnTo>
                  <a:pt x="0" y="0"/>
                </a:lnTo>
                <a:lnTo>
                  <a:pt x="7379804" y="0"/>
                </a:lnTo>
                <a:lnTo>
                  <a:pt x="7379804" y="678942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45" name="Google Shape;345;p18"/>
          <p:cNvSpPr/>
          <p:nvPr/>
        </p:nvSpPr>
        <p:spPr>
          <a:xfrm flipH="1" rot="5400000">
            <a:off x="7612141" y="6265637"/>
            <a:ext cx="4631723" cy="6616747"/>
          </a:xfrm>
          <a:custGeom>
            <a:rect b="b" l="l" r="r" t="t"/>
            <a:pathLst>
              <a:path extrusionOk="0" h="6616747" w="4631723">
                <a:moveTo>
                  <a:pt x="4631723" y="0"/>
                </a:moveTo>
                <a:lnTo>
                  <a:pt x="0" y="0"/>
                </a:lnTo>
                <a:lnTo>
                  <a:pt x="0" y="6616747"/>
                </a:lnTo>
                <a:lnTo>
                  <a:pt x="4631723" y="6616747"/>
                </a:lnTo>
                <a:lnTo>
                  <a:pt x="4631723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46" name="Google Shape;346;p18"/>
          <p:cNvSpPr/>
          <p:nvPr/>
        </p:nvSpPr>
        <p:spPr>
          <a:xfrm>
            <a:off x="12342388" y="4809982"/>
            <a:ext cx="8310124" cy="7229876"/>
          </a:xfrm>
          <a:custGeom>
            <a:rect b="b" l="l" r="r" t="t"/>
            <a:pathLst>
              <a:path extrusionOk="0" h="7229876" w="8310124">
                <a:moveTo>
                  <a:pt x="0" y="0"/>
                </a:moveTo>
                <a:lnTo>
                  <a:pt x="8310124" y="0"/>
                </a:lnTo>
                <a:lnTo>
                  <a:pt x="8310124" y="7229875"/>
                </a:lnTo>
                <a:lnTo>
                  <a:pt x="0" y="722987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347" name="Google Shape;347;p18"/>
          <p:cNvGrpSpPr/>
          <p:nvPr/>
        </p:nvGrpSpPr>
        <p:grpSpPr>
          <a:xfrm>
            <a:off x="12499975" y="4585204"/>
            <a:ext cx="7994949" cy="7304668"/>
            <a:chOff x="0" y="-38100"/>
            <a:chExt cx="812800" cy="742623"/>
          </a:xfrm>
        </p:grpSpPr>
        <p:sp>
          <p:nvSpPr>
            <p:cNvPr id="348" name="Google Shape;348;p18"/>
            <p:cNvSpPr/>
            <p:nvPr/>
          </p:nvSpPr>
          <p:spPr>
            <a:xfrm>
              <a:off x="0" y="0"/>
              <a:ext cx="812800" cy="704523"/>
            </a:xfrm>
            <a:custGeom>
              <a:rect b="b" l="l" r="r" t="t"/>
              <a:pathLst>
                <a:path extrusionOk="0" h="704523" w="812800">
                  <a:moveTo>
                    <a:pt x="812800" y="352262"/>
                  </a:moveTo>
                  <a:lnTo>
                    <a:pt x="609600" y="704523"/>
                  </a:lnTo>
                  <a:lnTo>
                    <a:pt x="203200" y="704523"/>
                  </a:lnTo>
                  <a:lnTo>
                    <a:pt x="0" y="352262"/>
                  </a:lnTo>
                  <a:lnTo>
                    <a:pt x="203200" y="0"/>
                  </a:lnTo>
                  <a:lnTo>
                    <a:pt x="609600" y="0"/>
                  </a:lnTo>
                  <a:lnTo>
                    <a:pt x="812800" y="352262"/>
                  </a:lnTo>
                  <a:close/>
                </a:path>
              </a:pathLst>
            </a:custGeom>
            <a:gradFill>
              <a:gsLst>
                <a:gs pos="0">
                  <a:srgbClr val="00B247"/>
                </a:gs>
                <a:gs pos="100000">
                  <a:srgbClr val="7ED957"/>
                </a:gs>
              </a:gsLst>
              <a:lin ang="0" scaled="0"/>
            </a:gradFill>
            <a:ln>
              <a:noFill/>
            </a:ln>
          </p:spPr>
        </p:sp>
        <p:sp>
          <p:nvSpPr>
            <p:cNvPr id="349" name="Google Shape;349;p18"/>
            <p:cNvSpPr txBox="1"/>
            <p:nvPr/>
          </p:nvSpPr>
          <p:spPr>
            <a:xfrm>
              <a:off x="114300" y="-38100"/>
              <a:ext cx="584200" cy="74262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3275" lIns="53275" spcFirstLastPara="1" rIns="53275" wrap="square" tIns="53275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50" name="Google Shape;350;p18"/>
          <p:cNvSpPr/>
          <p:nvPr/>
        </p:nvSpPr>
        <p:spPr>
          <a:xfrm>
            <a:off x="12823194" y="5224462"/>
            <a:ext cx="7348511" cy="6416969"/>
          </a:xfrm>
          <a:custGeom>
            <a:rect b="b" l="l" r="r" t="t"/>
            <a:pathLst>
              <a:path extrusionOk="0" h="709765" w="812800">
                <a:moveTo>
                  <a:pt x="812800" y="354883"/>
                </a:moveTo>
                <a:lnTo>
                  <a:pt x="609600" y="709765"/>
                </a:lnTo>
                <a:lnTo>
                  <a:pt x="203200" y="709765"/>
                </a:lnTo>
                <a:lnTo>
                  <a:pt x="0" y="354883"/>
                </a:lnTo>
                <a:lnTo>
                  <a:pt x="203200" y="0"/>
                </a:lnTo>
                <a:lnTo>
                  <a:pt x="609600" y="0"/>
                </a:lnTo>
                <a:lnTo>
                  <a:pt x="812800" y="354883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-16786" r="-16786" t="0"/>
            </a:stretch>
          </a:blipFill>
          <a:ln>
            <a:noFill/>
          </a:ln>
        </p:spPr>
      </p:sp>
      <p:sp>
        <p:nvSpPr>
          <p:cNvPr id="351" name="Google Shape;351;p18"/>
          <p:cNvSpPr/>
          <p:nvPr/>
        </p:nvSpPr>
        <p:spPr>
          <a:xfrm>
            <a:off x="8920367" y="884648"/>
            <a:ext cx="8212990" cy="7145368"/>
          </a:xfrm>
          <a:custGeom>
            <a:rect b="b" l="l" r="r" t="t"/>
            <a:pathLst>
              <a:path extrusionOk="0" h="7145368" w="8212990">
                <a:moveTo>
                  <a:pt x="0" y="0"/>
                </a:moveTo>
                <a:lnTo>
                  <a:pt x="8212990" y="0"/>
                </a:lnTo>
                <a:lnTo>
                  <a:pt x="8212990" y="7145368"/>
                </a:lnTo>
                <a:lnTo>
                  <a:pt x="0" y="714536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352" name="Google Shape;352;p18"/>
          <p:cNvGrpSpPr/>
          <p:nvPr/>
        </p:nvGrpSpPr>
        <p:grpSpPr>
          <a:xfrm>
            <a:off x="-1298668" y="540496"/>
            <a:ext cx="7738567" cy="1116784"/>
            <a:chOff x="0" y="-38100"/>
            <a:chExt cx="5145882" cy="742623"/>
          </a:xfrm>
        </p:grpSpPr>
        <p:sp>
          <p:nvSpPr>
            <p:cNvPr id="353" name="Google Shape;353;p18"/>
            <p:cNvSpPr/>
            <p:nvPr/>
          </p:nvSpPr>
          <p:spPr>
            <a:xfrm>
              <a:off x="0" y="0"/>
              <a:ext cx="5145882" cy="704523"/>
            </a:xfrm>
            <a:custGeom>
              <a:rect b="b" l="l" r="r" t="t"/>
              <a:pathLst>
                <a:path extrusionOk="0" h="704523" w="5145882">
                  <a:moveTo>
                    <a:pt x="5145882" y="352262"/>
                  </a:moveTo>
                  <a:lnTo>
                    <a:pt x="4942682" y="704523"/>
                  </a:lnTo>
                  <a:lnTo>
                    <a:pt x="203200" y="704523"/>
                  </a:lnTo>
                  <a:lnTo>
                    <a:pt x="0" y="352262"/>
                  </a:lnTo>
                  <a:lnTo>
                    <a:pt x="203200" y="0"/>
                  </a:lnTo>
                  <a:lnTo>
                    <a:pt x="4942682" y="0"/>
                  </a:lnTo>
                  <a:lnTo>
                    <a:pt x="5145882" y="352262"/>
                  </a:lnTo>
                  <a:close/>
                </a:path>
              </a:pathLst>
            </a:custGeom>
            <a:gradFill>
              <a:gsLst>
                <a:gs pos="0">
                  <a:srgbClr val="00B247"/>
                </a:gs>
                <a:gs pos="100000">
                  <a:srgbClr val="7ED957"/>
                </a:gs>
              </a:gsLst>
              <a:lin ang="0" scaled="0"/>
            </a:gradFill>
            <a:ln>
              <a:noFill/>
            </a:ln>
          </p:spPr>
        </p:sp>
        <p:sp>
          <p:nvSpPr>
            <p:cNvPr id="354" name="Google Shape;354;p18"/>
            <p:cNvSpPr txBox="1"/>
            <p:nvPr/>
          </p:nvSpPr>
          <p:spPr>
            <a:xfrm>
              <a:off x="114300" y="-38100"/>
              <a:ext cx="4917283" cy="74262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55" name="Google Shape;355;p18"/>
          <p:cNvSpPr txBox="1"/>
          <p:nvPr/>
        </p:nvSpPr>
        <p:spPr>
          <a:xfrm>
            <a:off x="1000125" y="3867410"/>
            <a:ext cx="6935635" cy="9621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Liên hệ ngay </a:t>
            </a:r>
            <a:r>
              <a:rPr b="1" i="0" lang="en-US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Omega</a:t>
            </a:r>
            <a:r>
              <a:rPr b="0" i="0" lang="en-US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để được tư vấn và trải nghiệm Demo phần mềm miễn phí!</a:t>
            </a:r>
            <a:endParaRPr/>
          </a:p>
        </p:txBody>
      </p:sp>
      <p:sp>
        <p:nvSpPr>
          <p:cNvPr id="356" name="Google Shape;356;p18"/>
          <p:cNvSpPr txBox="1"/>
          <p:nvPr/>
        </p:nvSpPr>
        <p:spPr>
          <a:xfrm>
            <a:off x="1000125" y="2389069"/>
            <a:ext cx="6709267" cy="11257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428" u="none" cap="none" strike="noStrike">
                <a:solidFill>
                  <a:srgbClr val="ED1E23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THANK YOU</a:t>
            </a:r>
            <a:endParaRPr/>
          </a:p>
        </p:txBody>
      </p:sp>
      <p:grpSp>
        <p:nvGrpSpPr>
          <p:cNvPr id="357" name="Google Shape;357;p18"/>
          <p:cNvGrpSpPr/>
          <p:nvPr/>
        </p:nvGrpSpPr>
        <p:grpSpPr>
          <a:xfrm>
            <a:off x="396478" y="8624530"/>
            <a:ext cx="10216290" cy="912278"/>
            <a:chOff x="0" y="-38100"/>
            <a:chExt cx="8316382" cy="742623"/>
          </a:xfrm>
        </p:grpSpPr>
        <p:sp>
          <p:nvSpPr>
            <p:cNvPr id="358" name="Google Shape;358;p18"/>
            <p:cNvSpPr/>
            <p:nvPr/>
          </p:nvSpPr>
          <p:spPr>
            <a:xfrm>
              <a:off x="0" y="0"/>
              <a:ext cx="8316382" cy="704523"/>
            </a:xfrm>
            <a:custGeom>
              <a:rect b="b" l="l" r="r" t="t"/>
              <a:pathLst>
                <a:path extrusionOk="0" h="704523" w="8316382">
                  <a:moveTo>
                    <a:pt x="8316382" y="352262"/>
                  </a:moveTo>
                  <a:lnTo>
                    <a:pt x="8113182" y="704523"/>
                  </a:lnTo>
                  <a:lnTo>
                    <a:pt x="203200" y="704523"/>
                  </a:lnTo>
                  <a:lnTo>
                    <a:pt x="0" y="352262"/>
                  </a:lnTo>
                  <a:lnTo>
                    <a:pt x="203200" y="0"/>
                  </a:lnTo>
                  <a:lnTo>
                    <a:pt x="8113182" y="0"/>
                  </a:lnTo>
                  <a:lnTo>
                    <a:pt x="8316382" y="352262"/>
                  </a:lnTo>
                  <a:close/>
                </a:path>
              </a:pathLst>
            </a:custGeom>
            <a:gradFill>
              <a:gsLst>
                <a:gs pos="0">
                  <a:srgbClr val="00B247"/>
                </a:gs>
                <a:gs pos="100000">
                  <a:srgbClr val="7ED957"/>
                </a:gs>
              </a:gsLst>
              <a:lin ang="0" scaled="0"/>
            </a:gradFill>
            <a:ln>
              <a:noFill/>
            </a:ln>
          </p:spPr>
        </p:sp>
        <p:sp>
          <p:nvSpPr>
            <p:cNvPr id="359" name="Google Shape;359;p18"/>
            <p:cNvSpPr txBox="1"/>
            <p:nvPr/>
          </p:nvSpPr>
          <p:spPr>
            <a:xfrm>
              <a:off x="114300" y="-38100"/>
              <a:ext cx="8087782" cy="74262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60" name="Google Shape;360;p18"/>
          <p:cNvGrpSpPr/>
          <p:nvPr/>
        </p:nvGrpSpPr>
        <p:grpSpPr>
          <a:xfrm>
            <a:off x="994272" y="8751404"/>
            <a:ext cx="738122" cy="674392"/>
            <a:chOff x="0" y="-38100"/>
            <a:chExt cx="812800" cy="742623"/>
          </a:xfrm>
        </p:grpSpPr>
        <p:sp>
          <p:nvSpPr>
            <p:cNvPr id="361" name="Google Shape;361;p18"/>
            <p:cNvSpPr/>
            <p:nvPr/>
          </p:nvSpPr>
          <p:spPr>
            <a:xfrm>
              <a:off x="0" y="0"/>
              <a:ext cx="812800" cy="704523"/>
            </a:xfrm>
            <a:custGeom>
              <a:rect b="b" l="l" r="r" t="t"/>
              <a:pathLst>
                <a:path extrusionOk="0" h="704523" w="812800">
                  <a:moveTo>
                    <a:pt x="812800" y="352262"/>
                  </a:moveTo>
                  <a:lnTo>
                    <a:pt x="609600" y="704523"/>
                  </a:lnTo>
                  <a:lnTo>
                    <a:pt x="203200" y="704523"/>
                  </a:lnTo>
                  <a:lnTo>
                    <a:pt x="0" y="352262"/>
                  </a:lnTo>
                  <a:lnTo>
                    <a:pt x="203200" y="0"/>
                  </a:lnTo>
                  <a:lnTo>
                    <a:pt x="609600" y="0"/>
                  </a:lnTo>
                  <a:lnTo>
                    <a:pt x="812800" y="35226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362" name="Google Shape;362;p18"/>
            <p:cNvSpPr txBox="1"/>
            <p:nvPr/>
          </p:nvSpPr>
          <p:spPr>
            <a:xfrm>
              <a:off x="114300" y="-38100"/>
              <a:ext cx="584200" cy="74262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2650" lIns="52650" spcFirstLastPara="1" rIns="52650" wrap="square" tIns="5265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63" name="Google Shape;363;p18"/>
          <p:cNvGrpSpPr/>
          <p:nvPr/>
        </p:nvGrpSpPr>
        <p:grpSpPr>
          <a:xfrm>
            <a:off x="396478" y="7590036"/>
            <a:ext cx="10216290" cy="912278"/>
            <a:chOff x="0" y="-38100"/>
            <a:chExt cx="8316382" cy="742623"/>
          </a:xfrm>
        </p:grpSpPr>
        <p:sp>
          <p:nvSpPr>
            <p:cNvPr id="364" name="Google Shape;364;p18"/>
            <p:cNvSpPr/>
            <p:nvPr/>
          </p:nvSpPr>
          <p:spPr>
            <a:xfrm>
              <a:off x="0" y="0"/>
              <a:ext cx="8316382" cy="704523"/>
            </a:xfrm>
            <a:custGeom>
              <a:rect b="b" l="l" r="r" t="t"/>
              <a:pathLst>
                <a:path extrusionOk="0" h="704523" w="8316382">
                  <a:moveTo>
                    <a:pt x="8316382" y="352262"/>
                  </a:moveTo>
                  <a:lnTo>
                    <a:pt x="8113182" y="704523"/>
                  </a:lnTo>
                  <a:lnTo>
                    <a:pt x="203200" y="704523"/>
                  </a:lnTo>
                  <a:lnTo>
                    <a:pt x="0" y="352262"/>
                  </a:lnTo>
                  <a:lnTo>
                    <a:pt x="203200" y="0"/>
                  </a:lnTo>
                  <a:lnTo>
                    <a:pt x="8113182" y="0"/>
                  </a:lnTo>
                  <a:lnTo>
                    <a:pt x="8316382" y="352262"/>
                  </a:lnTo>
                  <a:close/>
                </a:path>
              </a:pathLst>
            </a:custGeom>
            <a:gradFill>
              <a:gsLst>
                <a:gs pos="0">
                  <a:srgbClr val="00B247"/>
                </a:gs>
                <a:gs pos="100000">
                  <a:srgbClr val="7ED957"/>
                </a:gs>
              </a:gsLst>
              <a:lin ang="0" scaled="0"/>
            </a:gradFill>
            <a:ln>
              <a:noFill/>
            </a:ln>
          </p:spPr>
        </p:sp>
        <p:sp>
          <p:nvSpPr>
            <p:cNvPr id="365" name="Google Shape;365;p18"/>
            <p:cNvSpPr txBox="1"/>
            <p:nvPr/>
          </p:nvSpPr>
          <p:spPr>
            <a:xfrm>
              <a:off x="114300" y="-38100"/>
              <a:ext cx="8087782" cy="74262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66" name="Google Shape;366;p18"/>
          <p:cNvGrpSpPr/>
          <p:nvPr/>
        </p:nvGrpSpPr>
        <p:grpSpPr>
          <a:xfrm>
            <a:off x="994272" y="7716910"/>
            <a:ext cx="738122" cy="674392"/>
            <a:chOff x="0" y="-38100"/>
            <a:chExt cx="812800" cy="742623"/>
          </a:xfrm>
        </p:grpSpPr>
        <p:sp>
          <p:nvSpPr>
            <p:cNvPr id="367" name="Google Shape;367;p18"/>
            <p:cNvSpPr/>
            <p:nvPr/>
          </p:nvSpPr>
          <p:spPr>
            <a:xfrm>
              <a:off x="0" y="0"/>
              <a:ext cx="812800" cy="704523"/>
            </a:xfrm>
            <a:custGeom>
              <a:rect b="b" l="l" r="r" t="t"/>
              <a:pathLst>
                <a:path extrusionOk="0" h="704523" w="812800">
                  <a:moveTo>
                    <a:pt x="812800" y="352262"/>
                  </a:moveTo>
                  <a:lnTo>
                    <a:pt x="609600" y="704523"/>
                  </a:lnTo>
                  <a:lnTo>
                    <a:pt x="203200" y="704523"/>
                  </a:lnTo>
                  <a:lnTo>
                    <a:pt x="0" y="352262"/>
                  </a:lnTo>
                  <a:lnTo>
                    <a:pt x="203200" y="0"/>
                  </a:lnTo>
                  <a:lnTo>
                    <a:pt x="609600" y="0"/>
                  </a:lnTo>
                  <a:lnTo>
                    <a:pt x="812800" y="35226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368" name="Google Shape;368;p18"/>
            <p:cNvSpPr txBox="1"/>
            <p:nvPr/>
          </p:nvSpPr>
          <p:spPr>
            <a:xfrm>
              <a:off x="114300" y="-38100"/>
              <a:ext cx="584200" cy="74262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2650" lIns="52650" spcFirstLastPara="1" rIns="52650" wrap="square" tIns="5265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69" name="Google Shape;369;p18"/>
          <p:cNvGrpSpPr/>
          <p:nvPr/>
        </p:nvGrpSpPr>
        <p:grpSpPr>
          <a:xfrm>
            <a:off x="396478" y="6553112"/>
            <a:ext cx="10216290" cy="912278"/>
            <a:chOff x="0" y="-38100"/>
            <a:chExt cx="8316382" cy="742623"/>
          </a:xfrm>
        </p:grpSpPr>
        <p:sp>
          <p:nvSpPr>
            <p:cNvPr id="370" name="Google Shape;370;p18"/>
            <p:cNvSpPr/>
            <p:nvPr/>
          </p:nvSpPr>
          <p:spPr>
            <a:xfrm>
              <a:off x="0" y="0"/>
              <a:ext cx="8316382" cy="704523"/>
            </a:xfrm>
            <a:custGeom>
              <a:rect b="b" l="l" r="r" t="t"/>
              <a:pathLst>
                <a:path extrusionOk="0" h="704523" w="8316382">
                  <a:moveTo>
                    <a:pt x="8316382" y="352262"/>
                  </a:moveTo>
                  <a:lnTo>
                    <a:pt x="8113182" y="704523"/>
                  </a:lnTo>
                  <a:lnTo>
                    <a:pt x="203200" y="704523"/>
                  </a:lnTo>
                  <a:lnTo>
                    <a:pt x="0" y="352262"/>
                  </a:lnTo>
                  <a:lnTo>
                    <a:pt x="203200" y="0"/>
                  </a:lnTo>
                  <a:lnTo>
                    <a:pt x="8113182" y="0"/>
                  </a:lnTo>
                  <a:lnTo>
                    <a:pt x="8316382" y="352262"/>
                  </a:lnTo>
                  <a:close/>
                </a:path>
              </a:pathLst>
            </a:custGeom>
            <a:gradFill>
              <a:gsLst>
                <a:gs pos="0">
                  <a:srgbClr val="00B247"/>
                </a:gs>
                <a:gs pos="100000">
                  <a:srgbClr val="7ED957"/>
                </a:gs>
              </a:gsLst>
              <a:lin ang="0" scaled="0"/>
            </a:gradFill>
            <a:ln>
              <a:noFill/>
            </a:ln>
          </p:spPr>
        </p:sp>
        <p:sp>
          <p:nvSpPr>
            <p:cNvPr id="371" name="Google Shape;371;p18"/>
            <p:cNvSpPr txBox="1"/>
            <p:nvPr/>
          </p:nvSpPr>
          <p:spPr>
            <a:xfrm>
              <a:off x="114300" y="-38100"/>
              <a:ext cx="8087782" cy="74262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72" name="Google Shape;372;p18"/>
          <p:cNvGrpSpPr/>
          <p:nvPr/>
        </p:nvGrpSpPr>
        <p:grpSpPr>
          <a:xfrm>
            <a:off x="994272" y="6679986"/>
            <a:ext cx="738122" cy="674392"/>
            <a:chOff x="0" y="-38100"/>
            <a:chExt cx="812800" cy="742623"/>
          </a:xfrm>
        </p:grpSpPr>
        <p:sp>
          <p:nvSpPr>
            <p:cNvPr id="373" name="Google Shape;373;p18"/>
            <p:cNvSpPr/>
            <p:nvPr/>
          </p:nvSpPr>
          <p:spPr>
            <a:xfrm>
              <a:off x="0" y="0"/>
              <a:ext cx="812800" cy="704523"/>
            </a:xfrm>
            <a:custGeom>
              <a:rect b="b" l="l" r="r" t="t"/>
              <a:pathLst>
                <a:path extrusionOk="0" h="704523" w="812800">
                  <a:moveTo>
                    <a:pt x="812800" y="352262"/>
                  </a:moveTo>
                  <a:lnTo>
                    <a:pt x="609600" y="704523"/>
                  </a:lnTo>
                  <a:lnTo>
                    <a:pt x="203200" y="704523"/>
                  </a:lnTo>
                  <a:lnTo>
                    <a:pt x="0" y="352262"/>
                  </a:lnTo>
                  <a:lnTo>
                    <a:pt x="203200" y="0"/>
                  </a:lnTo>
                  <a:lnTo>
                    <a:pt x="609600" y="0"/>
                  </a:lnTo>
                  <a:lnTo>
                    <a:pt x="812800" y="35226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374" name="Google Shape;374;p18"/>
            <p:cNvSpPr txBox="1"/>
            <p:nvPr/>
          </p:nvSpPr>
          <p:spPr>
            <a:xfrm>
              <a:off x="114300" y="-38100"/>
              <a:ext cx="584200" cy="74262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2650" lIns="52650" spcFirstLastPara="1" rIns="52650" wrap="square" tIns="5265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75" name="Google Shape;375;p18"/>
          <p:cNvGrpSpPr/>
          <p:nvPr/>
        </p:nvGrpSpPr>
        <p:grpSpPr>
          <a:xfrm>
            <a:off x="396478" y="5516188"/>
            <a:ext cx="10216290" cy="912278"/>
            <a:chOff x="0" y="-38100"/>
            <a:chExt cx="8316382" cy="742623"/>
          </a:xfrm>
        </p:grpSpPr>
        <p:sp>
          <p:nvSpPr>
            <p:cNvPr id="376" name="Google Shape;376;p18"/>
            <p:cNvSpPr/>
            <p:nvPr/>
          </p:nvSpPr>
          <p:spPr>
            <a:xfrm>
              <a:off x="0" y="0"/>
              <a:ext cx="8316382" cy="704523"/>
            </a:xfrm>
            <a:custGeom>
              <a:rect b="b" l="l" r="r" t="t"/>
              <a:pathLst>
                <a:path extrusionOk="0" h="704523" w="8316382">
                  <a:moveTo>
                    <a:pt x="8316382" y="352262"/>
                  </a:moveTo>
                  <a:lnTo>
                    <a:pt x="8113182" y="704523"/>
                  </a:lnTo>
                  <a:lnTo>
                    <a:pt x="203200" y="704523"/>
                  </a:lnTo>
                  <a:lnTo>
                    <a:pt x="0" y="352262"/>
                  </a:lnTo>
                  <a:lnTo>
                    <a:pt x="203200" y="0"/>
                  </a:lnTo>
                  <a:lnTo>
                    <a:pt x="8113182" y="0"/>
                  </a:lnTo>
                  <a:lnTo>
                    <a:pt x="8316382" y="352262"/>
                  </a:lnTo>
                  <a:close/>
                </a:path>
              </a:pathLst>
            </a:custGeom>
            <a:gradFill>
              <a:gsLst>
                <a:gs pos="0">
                  <a:srgbClr val="00B247"/>
                </a:gs>
                <a:gs pos="100000">
                  <a:srgbClr val="7ED957"/>
                </a:gs>
              </a:gsLst>
              <a:lin ang="0" scaled="0"/>
            </a:gradFill>
            <a:ln>
              <a:noFill/>
            </a:ln>
          </p:spPr>
        </p:sp>
        <p:sp>
          <p:nvSpPr>
            <p:cNvPr id="377" name="Google Shape;377;p18"/>
            <p:cNvSpPr txBox="1"/>
            <p:nvPr/>
          </p:nvSpPr>
          <p:spPr>
            <a:xfrm>
              <a:off x="114300" y="-38100"/>
              <a:ext cx="8087782" cy="74262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78" name="Google Shape;378;p18"/>
          <p:cNvGrpSpPr/>
          <p:nvPr/>
        </p:nvGrpSpPr>
        <p:grpSpPr>
          <a:xfrm>
            <a:off x="994272" y="5643062"/>
            <a:ext cx="738122" cy="674392"/>
            <a:chOff x="0" y="-38100"/>
            <a:chExt cx="812800" cy="742623"/>
          </a:xfrm>
        </p:grpSpPr>
        <p:sp>
          <p:nvSpPr>
            <p:cNvPr id="379" name="Google Shape;379;p18"/>
            <p:cNvSpPr/>
            <p:nvPr/>
          </p:nvSpPr>
          <p:spPr>
            <a:xfrm>
              <a:off x="0" y="0"/>
              <a:ext cx="812800" cy="704523"/>
            </a:xfrm>
            <a:custGeom>
              <a:rect b="b" l="l" r="r" t="t"/>
              <a:pathLst>
                <a:path extrusionOk="0" h="704523" w="812800">
                  <a:moveTo>
                    <a:pt x="812800" y="352262"/>
                  </a:moveTo>
                  <a:lnTo>
                    <a:pt x="609600" y="704523"/>
                  </a:lnTo>
                  <a:lnTo>
                    <a:pt x="203200" y="704523"/>
                  </a:lnTo>
                  <a:lnTo>
                    <a:pt x="0" y="352262"/>
                  </a:lnTo>
                  <a:lnTo>
                    <a:pt x="203200" y="0"/>
                  </a:lnTo>
                  <a:lnTo>
                    <a:pt x="609600" y="0"/>
                  </a:lnTo>
                  <a:lnTo>
                    <a:pt x="812800" y="35226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380" name="Google Shape;380;p18"/>
            <p:cNvSpPr txBox="1"/>
            <p:nvPr/>
          </p:nvSpPr>
          <p:spPr>
            <a:xfrm>
              <a:off x="114300" y="-38100"/>
              <a:ext cx="584200" cy="74262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2650" lIns="52650" spcFirstLastPara="1" rIns="52650" wrap="square" tIns="5265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81" name="Google Shape;381;p18"/>
          <p:cNvSpPr/>
          <p:nvPr/>
        </p:nvSpPr>
        <p:spPr>
          <a:xfrm>
            <a:off x="1194357" y="5820180"/>
            <a:ext cx="337953" cy="354756"/>
          </a:xfrm>
          <a:custGeom>
            <a:rect b="b" l="l" r="r" t="t"/>
            <a:pathLst>
              <a:path extrusionOk="0" h="354756" w="337953">
                <a:moveTo>
                  <a:pt x="0" y="0"/>
                </a:moveTo>
                <a:lnTo>
                  <a:pt x="337953" y="0"/>
                </a:lnTo>
                <a:lnTo>
                  <a:pt x="337953" y="354756"/>
                </a:lnTo>
                <a:lnTo>
                  <a:pt x="0" y="35475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-6236" l="-3572" r="0" t="0"/>
            </a:stretch>
          </a:blipFill>
          <a:ln>
            <a:noFill/>
          </a:ln>
        </p:spPr>
      </p:sp>
      <p:sp>
        <p:nvSpPr>
          <p:cNvPr id="382" name="Google Shape;382;p18"/>
          <p:cNvSpPr/>
          <p:nvPr/>
        </p:nvSpPr>
        <p:spPr>
          <a:xfrm>
            <a:off x="1181124" y="6852273"/>
            <a:ext cx="364418" cy="364418"/>
          </a:xfrm>
          <a:custGeom>
            <a:rect b="b" l="l" r="r" t="t"/>
            <a:pathLst>
              <a:path extrusionOk="0" h="364418" w="364418">
                <a:moveTo>
                  <a:pt x="0" y="0"/>
                </a:moveTo>
                <a:lnTo>
                  <a:pt x="364418" y="0"/>
                </a:lnTo>
                <a:lnTo>
                  <a:pt x="364418" y="364418"/>
                </a:lnTo>
                <a:lnTo>
                  <a:pt x="0" y="36441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83" name="Google Shape;383;p18"/>
          <p:cNvSpPr/>
          <p:nvPr/>
        </p:nvSpPr>
        <p:spPr>
          <a:xfrm>
            <a:off x="1187256" y="7934285"/>
            <a:ext cx="352155" cy="274241"/>
          </a:xfrm>
          <a:custGeom>
            <a:rect b="b" l="l" r="r" t="t"/>
            <a:pathLst>
              <a:path extrusionOk="0" h="274241" w="352155">
                <a:moveTo>
                  <a:pt x="0" y="0"/>
                </a:moveTo>
                <a:lnTo>
                  <a:pt x="352155" y="0"/>
                </a:lnTo>
                <a:lnTo>
                  <a:pt x="352155" y="274242"/>
                </a:lnTo>
                <a:lnTo>
                  <a:pt x="0" y="27424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9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84" name="Google Shape;384;p18"/>
          <p:cNvSpPr/>
          <p:nvPr/>
        </p:nvSpPr>
        <p:spPr>
          <a:xfrm>
            <a:off x="1214819" y="8896725"/>
            <a:ext cx="297028" cy="418349"/>
          </a:xfrm>
          <a:custGeom>
            <a:rect b="b" l="l" r="r" t="t"/>
            <a:pathLst>
              <a:path extrusionOk="0" h="418349" w="297028">
                <a:moveTo>
                  <a:pt x="0" y="0"/>
                </a:moveTo>
                <a:lnTo>
                  <a:pt x="297028" y="0"/>
                </a:lnTo>
                <a:lnTo>
                  <a:pt x="297028" y="418350"/>
                </a:lnTo>
                <a:lnTo>
                  <a:pt x="0" y="41835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0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85" name="Google Shape;385;p18"/>
          <p:cNvSpPr txBox="1"/>
          <p:nvPr/>
        </p:nvSpPr>
        <p:spPr>
          <a:xfrm>
            <a:off x="1847992" y="8875471"/>
            <a:ext cx="8574432" cy="45723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277A Nguyễn Văn Đậu, P. Bình Lợi Trung, TP. HCM</a:t>
            </a:r>
            <a:endParaRPr/>
          </a:p>
        </p:txBody>
      </p:sp>
      <p:sp>
        <p:nvSpPr>
          <p:cNvPr id="386" name="Google Shape;386;p18"/>
          <p:cNvSpPr txBox="1"/>
          <p:nvPr/>
        </p:nvSpPr>
        <p:spPr>
          <a:xfrm>
            <a:off x="1847992" y="7840977"/>
            <a:ext cx="4872724" cy="45723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info@omega.com.vn</a:t>
            </a:r>
            <a:endParaRPr/>
          </a:p>
        </p:txBody>
      </p:sp>
      <p:sp>
        <p:nvSpPr>
          <p:cNvPr id="387" name="Google Shape;387;p18"/>
          <p:cNvSpPr txBox="1"/>
          <p:nvPr/>
        </p:nvSpPr>
        <p:spPr>
          <a:xfrm>
            <a:off x="1847992" y="6804053"/>
            <a:ext cx="4872724" cy="45723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www.omega.com.vn</a:t>
            </a:r>
            <a:endParaRPr/>
          </a:p>
        </p:txBody>
      </p:sp>
      <p:sp>
        <p:nvSpPr>
          <p:cNvPr id="388" name="Google Shape;388;p18"/>
          <p:cNvSpPr txBox="1"/>
          <p:nvPr/>
        </p:nvSpPr>
        <p:spPr>
          <a:xfrm>
            <a:off x="1847992" y="5767129"/>
            <a:ext cx="4872724" cy="45723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028 3512 8448</a:t>
            </a:r>
            <a:endParaRPr/>
          </a:p>
        </p:txBody>
      </p:sp>
      <p:sp>
        <p:nvSpPr>
          <p:cNvPr id="389" name="Google Shape;389;p18"/>
          <p:cNvSpPr txBox="1"/>
          <p:nvPr/>
        </p:nvSpPr>
        <p:spPr>
          <a:xfrm>
            <a:off x="396478" y="746536"/>
            <a:ext cx="4872724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Omega</a:t>
            </a:r>
            <a:endParaRPr/>
          </a:p>
        </p:txBody>
      </p:sp>
      <p:grpSp>
        <p:nvGrpSpPr>
          <p:cNvPr id="390" name="Google Shape;390;p18"/>
          <p:cNvGrpSpPr/>
          <p:nvPr/>
        </p:nvGrpSpPr>
        <p:grpSpPr>
          <a:xfrm>
            <a:off x="9076112" y="662497"/>
            <a:ext cx="7901499" cy="7219286"/>
            <a:chOff x="0" y="-38100"/>
            <a:chExt cx="812800" cy="742623"/>
          </a:xfrm>
        </p:grpSpPr>
        <p:sp>
          <p:nvSpPr>
            <p:cNvPr id="391" name="Google Shape;391;p18"/>
            <p:cNvSpPr/>
            <p:nvPr/>
          </p:nvSpPr>
          <p:spPr>
            <a:xfrm>
              <a:off x="0" y="0"/>
              <a:ext cx="812800" cy="704523"/>
            </a:xfrm>
            <a:custGeom>
              <a:rect b="b" l="l" r="r" t="t"/>
              <a:pathLst>
                <a:path extrusionOk="0" h="704523" w="812800">
                  <a:moveTo>
                    <a:pt x="812800" y="352262"/>
                  </a:moveTo>
                  <a:lnTo>
                    <a:pt x="609600" y="704523"/>
                  </a:lnTo>
                  <a:lnTo>
                    <a:pt x="203200" y="704523"/>
                  </a:lnTo>
                  <a:lnTo>
                    <a:pt x="0" y="352262"/>
                  </a:lnTo>
                  <a:lnTo>
                    <a:pt x="203200" y="0"/>
                  </a:lnTo>
                  <a:lnTo>
                    <a:pt x="609600" y="0"/>
                  </a:lnTo>
                  <a:lnTo>
                    <a:pt x="812800" y="352262"/>
                  </a:lnTo>
                  <a:close/>
                </a:path>
              </a:pathLst>
            </a:custGeom>
            <a:gradFill>
              <a:gsLst>
                <a:gs pos="0">
                  <a:srgbClr val="00B247"/>
                </a:gs>
                <a:gs pos="100000">
                  <a:srgbClr val="7ED957"/>
                </a:gs>
              </a:gsLst>
              <a:lin ang="0" scaled="0"/>
            </a:gradFill>
            <a:ln>
              <a:noFill/>
            </a:ln>
          </p:spPr>
        </p:sp>
        <p:sp>
          <p:nvSpPr>
            <p:cNvPr id="392" name="Google Shape;392;p18"/>
            <p:cNvSpPr txBox="1"/>
            <p:nvPr/>
          </p:nvSpPr>
          <p:spPr>
            <a:xfrm>
              <a:off x="114300" y="-38100"/>
              <a:ext cx="584200" cy="74262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2650" lIns="52650" spcFirstLastPara="1" rIns="52650" wrap="square" tIns="5265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93" name="Google Shape;393;p18"/>
          <p:cNvSpPr/>
          <p:nvPr/>
        </p:nvSpPr>
        <p:spPr>
          <a:xfrm>
            <a:off x="9395554" y="1294284"/>
            <a:ext cx="7262616" cy="6341963"/>
          </a:xfrm>
          <a:custGeom>
            <a:rect b="b" l="l" r="r" t="t"/>
            <a:pathLst>
              <a:path extrusionOk="0" h="709765" w="812800">
                <a:moveTo>
                  <a:pt x="812800" y="354883"/>
                </a:moveTo>
                <a:lnTo>
                  <a:pt x="609600" y="709765"/>
                </a:lnTo>
                <a:lnTo>
                  <a:pt x="203200" y="709765"/>
                </a:lnTo>
                <a:lnTo>
                  <a:pt x="0" y="354883"/>
                </a:lnTo>
                <a:lnTo>
                  <a:pt x="203200" y="0"/>
                </a:lnTo>
                <a:lnTo>
                  <a:pt x="609600" y="0"/>
                </a:lnTo>
                <a:lnTo>
                  <a:pt x="812800" y="354883"/>
                </a:lnTo>
                <a:close/>
              </a:path>
            </a:pathLst>
          </a:custGeom>
          <a:blipFill rotWithShape="1">
            <a:blip r:embed="rId11">
              <a:alphaModFix/>
            </a:blip>
            <a:stretch>
              <a:fillRect b="-829" l="0" r="0" t="-829"/>
            </a:stretch>
          </a:blipFill>
          <a:ln>
            <a:noFill/>
          </a:ln>
        </p:spPr>
      </p:sp>
    </p:spTree>
  </p:cSld>
  <p:clrMapOvr>
    <a:masterClrMapping/>
  </p:clrMapOvr>
  <p:transition spd="slow">
    <p:wipe dir="l"/>
  </p:transition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  <dc:creator>Tran Thuc Nghi</dc:creator>
</cp:coreProperties>
</file>